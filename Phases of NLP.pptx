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91" r:id="rId11"/>
    <p:sldId id="290" r:id="rId12"/>
    <p:sldId id="265" r:id="rId13"/>
    <p:sldId id="292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93" r:id="rId28"/>
    <p:sldId id="279" r:id="rId29"/>
    <p:sldId id="280" r:id="rId30"/>
    <p:sldId id="281" r:id="rId31"/>
    <p:sldId id="283" r:id="rId32"/>
    <p:sldId id="284" r:id="rId33"/>
    <p:sldId id="294" r:id="rId34"/>
    <p:sldId id="295" r:id="rId35"/>
    <p:sldId id="296" r:id="rId36"/>
    <p:sldId id="289" r:id="rId3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976" y="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35835" y="1931289"/>
            <a:ext cx="7417434" cy="1763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9280" y="1799265"/>
            <a:ext cx="10498455" cy="1855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2600" y="2133600"/>
            <a:ext cx="9829800" cy="1784463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2165985" marR="5080" indent="-2153920">
              <a:lnSpc>
                <a:spcPts val="6480"/>
              </a:lnSpc>
              <a:spcBef>
                <a:spcPts val="915"/>
              </a:spcBef>
            </a:pPr>
            <a:r>
              <a:rPr sz="6000" spc="-135" dirty="0">
                <a:latin typeface="Trebuchet MS"/>
                <a:cs typeface="Trebuchet MS"/>
              </a:rPr>
              <a:t>How</a:t>
            </a:r>
            <a:r>
              <a:rPr sz="6000" spc="-640" dirty="0">
                <a:latin typeface="Trebuchet MS"/>
                <a:cs typeface="Trebuchet MS"/>
              </a:rPr>
              <a:t> </a:t>
            </a:r>
            <a:r>
              <a:rPr sz="6000" spc="-380" dirty="0">
                <a:latin typeface="Trebuchet MS"/>
                <a:cs typeface="Trebuchet MS"/>
              </a:rPr>
              <a:t>to</a:t>
            </a:r>
            <a:r>
              <a:rPr sz="6000" spc="-650" dirty="0">
                <a:latin typeface="Trebuchet MS"/>
                <a:cs typeface="Trebuchet MS"/>
              </a:rPr>
              <a:t> </a:t>
            </a:r>
            <a:r>
              <a:rPr sz="6000" dirty="0">
                <a:latin typeface="Trebuchet MS"/>
                <a:cs typeface="Trebuchet MS"/>
              </a:rPr>
              <a:t>process</a:t>
            </a:r>
            <a:r>
              <a:rPr sz="6000" spc="-155" dirty="0">
                <a:latin typeface="Trebuchet MS"/>
                <a:cs typeface="Trebuchet MS"/>
              </a:rPr>
              <a:t> </a:t>
            </a:r>
            <a:r>
              <a:rPr sz="6000" spc="-310" dirty="0">
                <a:latin typeface="Trebuchet MS"/>
                <a:cs typeface="Trebuchet MS"/>
              </a:rPr>
              <a:t>Natural </a:t>
            </a:r>
            <a:r>
              <a:rPr sz="6000" spc="-285" dirty="0">
                <a:latin typeface="Trebuchet MS"/>
                <a:cs typeface="Trebuchet MS"/>
              </a:rPr>
              <a:t>Language</a:t>
            </a:r>
            <a:endParaRPr sz="60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7200" y="381000"/>
            <a:ext cx="11430000" cy="5829801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phases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Natural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Language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Processing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(NLP)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involve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various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steps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transform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raw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text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into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Times New Roman"/>
                <a:cs typeface="Times New Roman"/>
              </a:rPr>
              <a:t>meaningful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insights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actions.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Here’s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general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outline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typical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phases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NLP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pipeline: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400" b="1" dirty="0">
                <a:latin typeface="Times New Roman"/>
                <a:cs typeface="Times New Roman"/>
              </a:rPr>
              <a:t>1.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spc="-30" dirty="0">
                <a:latin typeface="Times New Roman"/>
                <a:cs typeface="Times New Roman"/>
              </a:rPr>
              <a:t>Text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Collection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400" b="1" dirty="0">
                <a:latin typeface="Times New Roman"/>
                <a:cs typeface="Times New Roman"/>
              </a:rPr>
              <a:t>Description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Gathering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collecting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 text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required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analysis.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 come </a:t>
            </a:r>
            <a:r>
              <a:rPr sz="2400" spc="-20" dirty="0">
                <a:latin typeface="Times New Roman"/>
                <a:cs typeface="Times New Roman"/>
              </a:rPr>
              <a:t>from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Times New Roman"/>
                <a:cs typeface="Times New Roman"/>
              </a:rPr>
              <a:t>various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sources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such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documents,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web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pages,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social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media,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databases.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2400" b="1" spc="-10" dirty="0">
                <a:latin typeface="Times New Roman"/>
                <a:cs typeface="Times New Roman"/>
              </a:rPr>
              <a:t>Tasks</a:t>
            </a:r>
            <a:r>
              <a:rPr sz="2400" spc="-10" dirty="0">
                <a:latin typeface="Times New Roman"/>
                <a:cs typeface="Times New Roman"/>
              </a:rPr>
              <a:t>:</a:t>
            </a:r>
            <a:endParaRPr sz="2400" dirty="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spcBef>
                <a:spcPts val="1200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sz="2400" spc="-25" dirty="0">
                <a:latin typeface="Times New Roman"/>
                <a:cs typeface="Times New Roman"/>
              </a:rPr>
              <a:t>Web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scraping</a:t>
            </a:r>
            <a:endParaRPr sz="2400" dirty="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spcBef>
                <a:spcPts val="1200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sz="2400" dirty="0">
                <a:latin typeface="Times New Roman"/>
                <a:cs typeface="Times New Roman"/>
              </a:rPr>
              <a:t>API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collection</a:t>
            </a:r>
            <a:endParaRPr sz="2400" dirty="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spcBef>
                <a:spcPts val="1200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import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files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(e.g.,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imes New Roman"/>
                <a:cs typeface="Times New Roman"/>
              </a:rPr>
              <a:t>CSV,</a:t>
            </a:r>
            <a:r>
              <a:rPr sz="2400" spc="-10" dirty="0">
                <a:latin typeface="Times New Roman"/>
                <a:cs typeface="Times New Roman"/>
              </a:rPr>
              <a:t> JSON)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1000" y="980668"/>
            <a:ext cx="11191011" cy="4998804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 algn="just">
              <a:spcBef>
                <a:spcPts val="1300"/>
              </a:spcBef>
            </a:pPr>
            <a:r>
              <a:rPr sz="2400" b="1" spc="-10" dirty="0">
                <a:latin typeface="Times New Roman"/>
                <a:cs typeface="Times New Roman"/>
              </a:rPr>
              <a:t>Preprocessing</a:t>
            </a:r>
            <a:endParaRPr sz="2400" dirty="0">
              <a:latin typeface="Times New Roman"/>
              <a:cs typeface="Times New Roman"/>
            </a:endParaRPr>
          </a:p>
          <a:p>
            <a:pPr marL="12700" marR="5080" algn="just"/>
            <a:r>
              <a:rPr sz="2400" dirty="0">
                <a:latin typeface="Times New Roman"/>
                <a:cs typeface="Times New Roman"/>
              </a:rPr>
              <a:t>Description: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Cleaning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preparing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text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further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analysis.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step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crucial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improving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quality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consistency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data.</a:t>
            </a:r>
            <a:endParaRPr sz="2400" dirty="0">
              <a:latin typeface="Times New Roman"/>
              <a:cs typeface="Times New Roman"/>
            </a:endParaRPr>
          </a:p>
          <a:p>
            <a:pPr marL="12700" algn="just">
              <a:spcBef>
                <a:spcPts val="1200"/>
              </a:spcBef>
            </a:pPr>
            <a:r>
              <a:rPr sz="2400" spc="-10" dirty="0">
                <a:latin typeface="Times New Roman"/>
                <a:cs typeface="Times New Roman"/>
              </a:rPr>
              <a:t>Tasks:</a:t>
            </a:r>
            <a:endParaRPr sz="2400" dirty="0">
              <a:latin typeface="Times New Roman"/>
              <a:cs typeface="Times New Roman"/>
            </a:endParaRPr>
          </a:p>
          <a:p>
            <a:pPr marL="12700" algn="just">
              <a:spcBef>
                <a:spcPts val="1200"/>
              </a:spcBef>
            </a:pPr>
            <a:r>
              <a:rPr sz="2400" b="1" spc="-20" dirty="0">
                <a:latin typeface="Times New Roman"/>
                <a:cs typeface="Times New Roman"/>
              </a:rPr>
              <a:t>Tokenization</a:t>
            </a:r>
            <a:r>
              <a:rPr sz="2400" spc="-20" dirty="0">
                <a:latin typeface="Times New Roman"/>
                <a:cs typeface="Times New Roman"/>
              </a:rPr>
              <a:t>: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Splitting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text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smaller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units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(tokens)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like words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sentences.</a:t>
            </a:r>
            <a:endParaRPr sz="2400" dirty="0">
              <a:latin typeface="Times New Roman"/>
              <a:cs typeface="Times New Roman"/>
            </a:endParaRPr>
          </a:p>
          <a:p>
            <a:pPr marL="12700" algn="just">
              <a:spcBef>
                <a:spcPts val="1200"/>
              </a:spcBef>
            </a:pPr>
            <a:r>
              <a:rPr sz="2400" b="1" dirty="0">
                <a:latin typeface="Times New Roman"/>
                <a:cs typeface="Times New Roman"/>
              </a:rPr>
              <a:t>Normalization: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Converting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text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standard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format,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such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lowercasing,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removing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punctuation,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or</a:t>
            </a:r>
            <a:endParaRPr sz="2400" dirty="0">
              <a:latin typeface="Times New Roman"/>
              <a:cs typeface="Times New Roman"/>
            </a:endParaRPr>
          </a:p>
          <a:p>
            <a:pPr marL="12700" algn="just">
              <a:spcBef>
                <a:spcPts val="1200"/>
              </a:spcBef>
            </a:pPr>
            <a:r>
              <a:rPr sz="2400" spc="-10" dirty="0">
                <a:latin typeface="Times New Roman"/>
                <a:cs typeface="Times New Roman"/>
              </a:rPr>
              <a:t>stemming/lemmatization.</a:t>
            </a:r>
            <a:endParaRPr sz="2400" dirty="0">
              <a:latin typeface="Times New Roman"/>
              <a:cs typeface="Times New Roman"/>
            </a:endParaRPr>
          </a:p>
          <a:p>
            <a:pPr marL="12700" marR="398780" algn="just">
              <a:spcBef>
                <a:spcPts val="5"/>
              </a:spcBef>
            </a:pPr>
            <a:r>
              <a:rPr sz="2400" b="1" dirty="0">
                <a:latin typeface="Times New Roman"/>
                <a:cs typeface="Times New Roman"/>
              </a:rPr>
              <a:t>Stop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Word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Removal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Eliminating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common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words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(e.g.,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"and",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"the")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contribute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significant meaning.</a:t>
            </a:r>
            <a:endParaRPr sz="2400" dirty="0">
              <a:latin typeface="Times New Roman"/>
              <a:cs typeface="Times New Roman"/>
            </a:endParaRPr>
          </a:p>
          <a:p>
            <a:pPr marL="12700" algn="just">
              <a:spcBef>
                <a:spcPts val="1200"/>
              </a:spcBef>
            </a:pPr>
            <a:r>
              <a:rPr sz="2400" b="1" dirty="0">
                <a:latin typeface="Times New Roman"/>
                <a:cs typeface="Times New Roman"/>
              </a:rPr>
              <a:t>Handling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Misspellings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Correcting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spelling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errors.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600" y="914400"/>
            <a:ext cx="11277600" cy="4691028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300"/>
              </a:spcBef>
            </a:pPr>
            <a:r>
              <a:rPr sz="2400" b="1" dirty="0">
                <a:latin typeface="Times New Roman"/>
                <a:cs typeface="Times New Roman"/>
              </a:rPr>
              <a:t>Feature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Extraction</a:t>
            </a:r>
            <a:endParaRPr sz="2400" dirty="0">
              <a:latin typeface="Times New Roman"/>
              <a:cs typeface="Times New Roman"/>
            </a:endParaRPr>
          </a:p>
          <a:p>
            <a:pPr marL="12700" marR="508000" algn="just">
              <a:lnSpc>
                <a:spcPct val="150000"/>
              </a:lnSpc>
            </a:pPr>
            <a:r>
              <a:rPr sz="2400" dirty="0">
                <a:latin typeface="Times New Roman"/>
                <a:cs typeface="Times New Roman"/>
              </a:rPr>
              <a:t>Description: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Converting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text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numerical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format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 machine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learning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models. Tasks:</a:t>
            </a:r>
            <a:endParaRPr sz="240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200"/>
              </a:spcBef>
            </a:pPr>
            <a:r>
              <a:rPr sz="2400" b="1" spc="-10" dirty="0">
                <a:latin typeface="Times New Roman"/>
                <a:cs typeface="Times New Roman"/>
              </a:rPr>
              <a:t>Bag-of-</a:t>
            </a:r>
            <a:r>
              <a:rPr sz="2400" b="1" spc="-20" dirty="0">
                <a:latin typeface="Times New Roman"/>
                <a:cs typeface="Times New Roman"/>
              </a:rPr>
              <a:t>Words</a:t>
            </a:r>
            <a:r>
              <a:rPr sz="2400" spc="-20" dirty="0">
                <a:latin typeface="Times New Roman"/>
                <a:cs typeface="Times New Roman"/>
              </a:rPr>
              <a:t>: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Representing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text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frequency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words.</a:t>
            </a:r>
            <a:endParaRPr sz="240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50000"/>
              </a:lnSpc>
            </a:pPr>
            <a:r>
              <a:rPr sz="2400" b="1" spc="-30" dirty="0">
                <a:latin typeface="Times New Roman"/>
                <a:cs typeface="Times New Roman"/>
              </a:rPr>
              <a:t>Term </a:t>
            </a:r>
            <a:r>
              <a:rPr sz="2400" b="1" spc="-10" dirty="0">
                <a:latin typeface="Times New Roman"/>
                <a:cs typeface="Times New Roman"/>
              </a:rPr>
              <a:t>Frequency-</a:t>
            </a:r>
            <a:r>
              <a:rPr sz="2400" b="1" dirty="0">
                <a:latin typeface="Times New Roman"/>
                <a:cs typeface="Times New Roman"/>
              </a:rPr>
              <a:t>Inverse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Document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Frequency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(TF-</a:t>
            </a:r>
            <a:r>
              <a:rPr sz="2400" dirty="0">
                <a:latin typeface="Times New Roman"/>
                <a:cs typeface="Times New Roman"/>
              </a:rPr>
              <a:t>IDF):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Weighting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words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based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their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frequency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importance.</a:t>
            </a:r>
            <a:endParaRPr sz="240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200"/>
              </a:spcBef>
            </a:pPr>
            <a:r>
              <a:rPr sz="2400" b="1" spc="-10" dirty="0">
                <a:latin typeface="Times New Roman"/>
                <a:cs typeface="Times New Roman"/>
              </a:rPr>
              <a:t>Word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Embeddings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Using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techniques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like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b="1" spc="-35" dirty="0">
                <a:latin typeface="Times New Roman"/>
                <a:cs typeface="Times New Roman"/>
              </a:rPr>
              <a:t>Word2Vec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or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GloVe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capture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semantic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meanings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of</a:t>
            </a:r>
            <a:endParaRPr sz="240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205"/>
              </a:spcBef>
            </a:pPr>
            <a:r>
              <a:rPr sz="2400" dirty="0">
                <a:latin typeface="Times New Roman"/>
                <a:cs typeface="Times New Roman"/>
              </a:rPr>
              <a:t>words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vector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space.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1000" y="822196"/>
            <a:ext cx="11582400" cy="5213607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295"/>
              </a:spcBef>
            </a:pPr>
            <a:r>
              <a:rPr sz="2400" b="1" dirty="0">
                <a:latin typeface="Times New Roman"/>
                <a:cs typeface="Times New Roman"/>
              </a:rPr>
              <a:t>Model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Training</a:t>
            </a:r>
            <a:endParaRPr sz="240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200"/>
              </a:spcBef>
            </a:pPr>
            <a:r>
              <a:rPr sz="2400" b="1" dirty="0">
                <a:latin typeface="Times New Roman"/>
                <a:cs typeface="Times New Roman"/>
              </a:rPr>
              <a:t>Description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Building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training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machine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learning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models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perform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specific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NLP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tasks,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such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as</a:t>
            </a:r>
            <a:endParaRPr sz="2400" dirty="0">
              <a:latin typeface="Times New Roman"/>
              <a:cs typeface="Times New Roman"/>
            </a:endParaRPr>
          </a:p>
          <a:p>
            <a:pPr marL="12700" marR="6288405" algn="just">
              <a:lnSpc>
                <a:spcPct val="150000"/>
              </a:lnSpc>
            </a:pPr>
            <a:r>
              <a:rPr sz="2400" dirty="0">
                <a:latin typeface="Times New Roman"/>
                <a:cs typeface="Times New Roman"/>
              </a:rPr>
              <a:t>classification,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entity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recognition,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translation. Tasks:</a:t>
            </a:r>
            <a:endParaRPr sz="240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200"/>
              </a:spcBef>
            </a:pPr>
            <a:r>
              <a:rPr sz="2400" b="1" dirty="0">
                <a:latin typeface="Times New Roman"/>
                <a:cs typeface="Times New Roman"/>
              </a:rPr>
              <a:t>Selection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1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Algorithms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Choosing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appropriate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algorithms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(e.g.,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logistic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regression,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SVM,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neural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networks).</a:t>
            </a:r>
            <a:endParaRPr sz="240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205"/>
              </a:spcBef>
            </a:pPr>
            <a:r>
              <a:rPr sz="2400" b="1" spc="-10" dirty="0">
                <a:latin typeface="Times New Roman"/>
                <a:cs typeface="Times New Roman"/>
              </a:rPr>
              <a:t>Training</a:t>
            </a:r>
            <a:r>
              <a:rPr sz="2400" spc="-10" dirty="0">
                <a:latin typeface="Times New Roman"/>
                <a:cs typeface="Times New Roman"/>
              </a:rPr>
              <a:t>: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Feeding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model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training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adjusting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parameters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learn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data.</a:t>
            </a:r>
            <a:endParaRPr sz="240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200"/>
              </a:spcBef>
            </a:pPr>
            <a:r>
              <a:rPr sz="2400" b="1" spc="-25" dirty="0">
                <a:latin typeface="Times New Roman"/>
                <a:cs typeface="Times New Roman"/>
              </a:rPr>
              <a:t>Validation</a:t>
            </a:r>
            <a:r>
              <a:rPr sz="2400" spc="-25" dirty="0">
                <a:latin typeface="Times New Roman"/>
                <a:cs typeface="Times New Roman"/>
              </a:rPr>
              <a:t>:</a:t>
            </a:r>
            <a:r>
              <a:rPr sz="2400" spc="-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Assessing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model’s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performance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 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validation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ensure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generalizes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well.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7200" y="1447800"/>
            <a:ext cx="11353800" cy="3737562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305"/>
              </a:spcBef>
            </a:pPr>
            <a:r>
              <a:rPr sz="2400" b="1" spc="-10" dirty="0">
                <a:latin typeface="Times New Roman"/>
                <a:cs typeface="Times New Roman"/>
              </a:rPr>
              <a:t>Evaluation</a:t>
            </a:r>
            <a:endParaRPr sz="240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50000"/>
              </a:lnSpc>
            </a:pPr>
            <a:r>
              <a:rPr sz="2400" b="1" spc="-10" dirty="0">
                <a:latin typeface="Times New Roman"/>
                <a:cs typeface="Times New Roman"/>
              </a:rPr>
              <a:t>Description</a:t>
            </a:r>
            <a:r>
              <a:rPr sz="2400" spc="-10" dirty="0">
                <a:latin typeface="Times New Roman"/>
                <a:cs typeface="Times New Roman"/>
              </a:rPr>
              <a:t>:</a:t>
            </a:r>
            <a:r>
              <a:rPr sz="2400" spc="-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Assessing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performance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NLP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model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various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metrics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ensure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meets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desired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accuracy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 </a:t>
            </a:r>
            <a:r>
              <a:rPr sz="2400" spc="-10" dirty="0">
                <a:latin typeface="Times New Roman"/>
                <a:cs typeface="Times New Roman"/>
              </a:rPr>
              <a:t>effectiveness.</a:t>
            </a:r>
            <a:endParaRPr sz="240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200"/>
              </a:spcBef>
            </a:pPr>
            <a:r>
              <a:rPr sz="2400" spc="-10" dirty="0">
                <a:latin typeface="Times New Roman"/>
                <a:cs typeface="Times New Roman"/>
              </a:rPr>
              <a:t>Tasks:</a:t>
            </a:r>
            <a:endParaRPr sz="240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200"/>
              </a:spcBef>
            </a:pPr>
            <a:r>
              <a:rPr sz="2400" b="1" spc="-10" dirty="0">
                <a:latin typeface="Times New Roman"/>
                <a:cs typeface="Times New Roman"/>
              </a:rPr>
              <a:t>Accuracy,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Precision,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Recall,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F1-Score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Common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metrics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classification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tasks.</a:t>
            </a:r>
            <a:endParaRPr sz="240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200"/>
              </a:spcBef>
            </a:pPr>
            <a:r>
              <a:rPr sz="2400" b="1" dirty="0">
                <a:latin typeface="Times New Roman"/>
                <a:cs typeface="Times New Roman"/>
              </a:rPr>
              <a:t>BLEU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Score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evaluating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machine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translation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quality.</a:t>
            </a:r>
            <a:endParaRPr sz="240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200"/>
              </a:spcBef>
            </a:pPr>
            <a:r>
              <a:rPr sz="2400" b="1" dirty="0">
                <a:latin typeface="Times New Roman"/>
                <a:cs typeface="Times New Roman"/>
              </a:rPr>
              <a:t>Confusion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Matrix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Analyzing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classification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results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understand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errors.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4542" y="838200"/>
            <a:ext cx="10622915" cy="5391219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00330" indent="-97155">
              <a:spcBef>
                <a:spcPts val="1300"/>
              </a:spcBef>
              <a:buSzPct val="95000"/>
              <a:buFont typeface="Times New Roman"/>
              <a:buChar char="•"/>
              <a:tabLst>
                <a:tab pos="100330" algn="l"/>
              </a:tabLst>
            </a:pPr>
            <a:r>
              <a:rPr sz="2400" b="1" dirty="0">
                <a:latin typeface="Times New Roman"/>
                <a:cs typeface="Times New Roman"/>
              </a:rPr>
              <a:t>Precision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Focuses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accuracy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positive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predictions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(low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false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positives).</a:t>
            </a:r>
            <a:endParaRPr sz="2400" dirty="0">
              <a:latin typeface="Times New Roman"/>
              <a:cs typeface="Times New Roman"/>
            </a:endParaRPr>
          </a:p>
          <a:p>
            <a:pPr marL="100330" indent="-97155">
              <a:spcBef>
                <a:spcPts val="1200"/>
              </a:spcBef>
              <a:buSzPct val="95000"/>
              <a:buFont typeface="Times New Roman"/>
              <a:buChar char="•"/>
              <a:tabLst>
                <a:tab pos="100330" algn="l"/>
              </a:tabLst>
            </a:pPr>
            <a:r>
              <a:rPr sz="2400" b="1" dirty="0">
                <a:latin typeface="Times New Roman"/>
                <a:cs typeface="Times New Roman"/>
              </a:rPr>
              <a:t>Recall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Focuses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capturing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many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actual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positive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cases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possible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(low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false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negatives).</a:t>
            </a:r>
            <a:endParaRPr sz="2400" dirty="0">
              <a:latin typeface="Times New Roman"/>
              <a:cs typeface="Times New Roman"/>
            </a:endParaRPr>
          </a:p>
          <a:p>
            <a:pPr marL="12700" marR="1392555" indent="-9525">
              <a:spcBef>
                <a:spcPts val="320"/>
              </a:spcBef>
              <a:buSzPct val="95000"/>
              <a:buFont typeface="Times New Roman"/>
              <a:buChar char="•"/>
              <a:tabLst>
                <a:tab pos="100330" algn="l"/>
              </a:tabLst>
            </a:pPr>
            <a:r>
              <a:rPr sz="2400" b="1" dirty="0">
                <a:latin typeface="Times New Roman"/>
                <a:cs typeface="Times New Roman"/>
              </a:rPr>
              <a:t>	F1-Score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Provides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balanced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measure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both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precision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recall,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useful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when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both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are </a:t>
            </a:r>
            <a:r>
              <a:rPr sz="2400" spc="-10" dirty="0">
                <a:latin typeface="Times New Roman"/>
                <a:cs typeface="Times New Roman"/>
              </a:rPr>
              <a:t>important.</a:t>
            </a:r>
            <a:endParaRPr sz="2400" dirty="0">
              <a:latin typeface="Times New Roman"/>
              <a:cs typeface="Times New Roman"/>
            </a:endParaRPr>
          </a:p>
          <a:p>
            <a:pPr>
              <a:spcBef>
                <a:spcPts val="1825"/>
              </a:spcBef>
            </a:pPr>
            <a:endParaRPr sz="2400" dirty="0">
              <a:latin typeface="Times New Roman"/>
              <a:cs typeface="Times New Roman"/>
            </a:endParaRPr>
          </a:p>
          <a:p>
            <a:pPr marL="12700" marR="5080"/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BLEU</a:t>
            </a:r>
            <a:r>
              <a:rPr sz="2400" b="1" spc="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score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(Bilingual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Evaluation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Understudy)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metric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evaluate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quality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machine- </a:t>
            </a:r>
            <a:r>
              <a:rPr sz="2400" dirty="0">
                <a:latin typeface="Times New Roman"/>
                <a:cs typeface="Times New Roman"/>
              </a:rPr>
              <a:t>generated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translations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comparing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them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more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human reference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translations.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measures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overlap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n-grams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(sequences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words)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between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machine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translation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reference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text, </a:t>
            </a:r>
            <a:r>
              <a:rPr sz="2400" dirty="0">
                <a:latin typeface="Times New Roman"/>
                <a:cs typeface="Times New Roman"/>
              </a:rPr>
              <a:t>focusing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precision.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BLEU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also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includes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brevity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penalty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 discourage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overly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short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translations.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score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ranges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0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higher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scores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indicating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better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alignment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reference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translation.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8600" y="1544802"/>
            <a:ext cx="11353800" cy="3429144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 algn="just">
              <a:spcBef>
                <a:spcPts val="1300"/>
              </a:spcBef>
            </a:pPr>
            <a:r>
              <a:rPr sz="2400" b="1" spc="-10" dirty="0">
                <a:latin typeface="Times New Roman"/>
                <a:cs typeface="Times New Roman"/>
              </a:rPr>
              <a:t>Deployment</a:t>
            </a:r>
            <a:endParaRPr sz="2400" dirty="0">
              <a:latin typeface="Times New Roman"/>
              <a:cs typeface="Times New Roman"/>
            </a:endParaRPr>
          </a:p>
          <a:p>
            <a:pPr marL="12700" marR="77470" algn="just"/>
            <a:r>
              <a:rPr sz="2400" b="1" dirty="0">
                <a:latin typeface="Times New Roman"/>
                <a:cs typeface="Times New Roman"/>
              </a:rPr>
              <a:t>Description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Integrating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trained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model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into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production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environment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where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-25" dirty="0">
                <a:latin typeface="Times New Roman"/>
                <a:cs typeface="Times New Roman"/>
              </a:rPr>
              <a:t> for </a:t>
            </a:r>
            <a:r>
              <a:rPr sz="2400" spc="-10" dirty="0">
                <a:latin typeface="Times New Roman"/>
                <a:cs typeface="Times New Roman"/>
              </a:rPr>
              <a:t>real-</a:t>
            </a:r>
            <a:r>
              <a:rPr sz="2400" dirty="0">
                <a:latin typeface="Times New Roman"/>
                <a:cs typeface="Times New Roman"/>
              </a:rPr>
              <a:t>world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applications.</a:t>
            </a:r>
            <a:endParaRPr sz="2400" dirty="0">
              <a:latin typeface="Times New Roman"/>
              <a:cs typeface="Times New Roman"/>
            </a:endParaRPr>
          </a:p>
          <a:p>
            <a:pPr marL="12700" algn="just">
              <a:spcBef>
                <a:spcPts val="1200"/>
              </a:spcBef>
            </a:pPr>
            <a:r>
              <a:rPr sz="2400" spc="-10" dirty="0">
                <a:latin typeface="Times New Roman"/>
                <a:cs typeface="Times New Roman"/>
              </a:rPr>
              <a:t>Tasks:</a:t>
            </a:r>
            <a:endParaRPr sz="2400" dirty="0">
              <a:latin typeface="Times New Roman"/>
              <a:cs typeface="Times New Roman"/>
            </a:endParaRPr>
          </a:p>
          <a:p>
            <a:pPr marL="12700" algn="just">
              <a:spcBef>
                <a:spcPts val="1200"/>
              </a:spcBef>
            </a:pPr>
            <a:r>
              <a:rPr sz="2400" b="1" dirty="0">
                <a:latin typeface="Times New Roman"/>
                <a:cs typeface="Times New Roman"/>
              </a:rPr>
              <a:t>API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Integration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Exposing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model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via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APIs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applications.</a:t>
            </a:r>
            <a:endParaRPr sz="2400" dirty="0">
              <a:latin typeface="Times New Roman"/>
              <a:cs typeface="Times New Roman"/>
            </a:endParaRPr>
          </a:p>
          <a:p>
            <a:pPr marL="12700" marR="5080" algn="just"/>
            <a:r>
              <a:rPr sz="2400" b="1" dirty="0">
                <a:latin typeface="Times New Roman"/>
                <a:cs typeface="Times New Roman"/>
              </a:rPr>
              <a:t>Scalability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Ensuring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model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handle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real-time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large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volumes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requests. </a:t>
            </a:r>
            <a:r>
              <a:rPr sz="2400" b="1" dirty="0">
                <a:latin typeface="Times New Roman"/>
                <a:cs typeface="Times New Roman"/>
              </a:rPr>
              <a:t>Monitoring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Maintenance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Continuously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monitoring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model’s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performance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updating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it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needed.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6400" y="2133600"/>
            <a:ext cx="7417434" cy="1732781"/>
          </a:xfrm>
          <a:prstGeom prst="rect">
            <a:avLst/>
          </a:prstGeom>
        </p:spPr>
        <p:txBody>
          <a:bodyPr vert="horz" wrap="square" lIns="0" tIns="618743" rIns="0" bIns="0" rtlCol="0">
            <a:spAutoFit/>
          </a:bodyPr>
          <a:lstStyle/>
          <a:p>
            <a:pPr marL="1378585">
              <a:lnSpc>
                <a:spcPct val="100000"/>
              </a:lnSpc>
              <a:spcBef>
                <a:spcPts val="105"/>
              </a:spcBef>
            </a:pPr>
            <a:r>
              <a:rPr sz="7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Phases</a:t>
            </a:r>
            <a:r>
              <a:rPr sz="7200" spc="-4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7200" spc="-2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7200" spc="-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spc="-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7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</a:t>
            </a:r>
            <a:endParaRPr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9A3DFC-E365-5904-B66B-E6983137F066}"/>
              </a:ext>
            </a:extLst>
          </p:cNvPr>
          <p:cNvSpPr txBox="1"/>
          <p:nvPr/>
        </p:nvSpPr>
        <p:spPr>
          <a:xfrm>
            <a:off x="1154430" y="1583970"/>
            <a:ext cx="9829800" cy="443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Morphological Analysis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Lexical Analysis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Syntactic Analysis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Semantic Analysis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Discourse Analysis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Pragmatic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7D0A16-80D1-927B-D5D5-5C79542AE684}"/>
              </a:ext>
            </a:extLst>
          </p:cNvPr>
          <p:cNvSpPr txBox="1"/>
          <p:nvPr/>
        </p:nvSpPr>
        <p:spPr>
          <a:xfrm>
            <a:off x="1268730" y="609600"/>
            <a:ext cx="480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Phases of NLP</a:t>
            </a:r>
          </a:p>
        </p:txBody>
      </p:sp>
    </p:spTree>
    <p:extLst>
      <p:ext uri="{BB962C8B-B14F-4D97-AF65-F5344CB8AC3E}">
        <p14:creationId xmlns:p14="http://schemas.microsoft.com/office/powerpoint/2010/main" val="930887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02D214F-69B1-4AD0-1B44-9483A3D2D9CB}"/>
              </a:ext>
            </a:extLst>
          </p:cNvPr>
          <p:cNvSpPr txBox="1"/>
          <p:nvPr/>
        </p:nvSpPr>
        <p:spPr>
          <a:xfrm>
            <a:off x="419100" y="428178"/>
            <a:ext cx="1135380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Morphological Analysis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internal structure of words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it does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Breaks words into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morphemes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(smallest meaningful units)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 / stem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prefixes and suffixes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tense, number, gender, case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Unhappiness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un + happy + ness</a:t>
            </a:r>
          </a:p>
          <a:p>
            <a:pPr>
              <a:buNone/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student + s (plural)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in handling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inflections and derivations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important for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Indian languages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(Hindi, Sanskrit, etc.)</a:t>
            </a:r>
          </a:p>
        </p:txBody>
      </p:sp>
    </p:spTree>
    <p:extLst>
      <p:ext uri="{BB962C8B-B14F-4D97-AF65-F5344CB8AC3E}">
        <p14:creationId xmlns:p14="http://schemas.microsoft.com/office/powerpoint/2010/main" val="12222127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8600" y="0"/>
            <a:ext cx="11303635" cy="6783267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12700">
              <a:spcBef>
                <a:spcPts val="1295"/>
              </a:spcBef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analysis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phases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Natural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Language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Processing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(NLP)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categorized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10" dirty="0">
                <a:latin typeface="Times New Roman"/>
                <a:cs typeface="Times New Roman"/>
              </a:rPr>
              <a:t> follows: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spcBef>
                <a:spcPts val="1200"/>
              </a:spcBef>
            </a:pPr>
            <a:r>
              <a:rPr sz="2400" b="1" spc="-10" dirty="0">
                <a:latin typeface="Times New Roman"/>
                <a:cs typeface="Times New Roman"/>
              </a:rPr>
              <a:t>Lexical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Analysis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spcBef>
                <a:spcPts val="1200"/>
              </a:spcBef>
            </a:pPr>
            <a:r>
              <a:rPr sz="2400" b="1" dirty="0">
                <a:latin typeface="Times New Roman"/>
                <a:cs typeface="Times New Roman"/>
              </a:rPr>
              <a:t>Focus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Basic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text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processing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tokenization.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spcBef>
                <a:spcPts val="1200"/>
              </a:spcBef>
            </a:pPr>
            <a:r>
              <a:rPr sz="2400" spc="-20" dirty="0">
                <a:latin typeface="Times New Roman"/>
                <a:cs typeface="Times New Roman"/>
              </a:rPr>
              <a:t>Tasks: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Tokenization,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normalization,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stop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word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removal,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handling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special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characters.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spcBef>
                <a:spcPts val="434"/>
              </a:spcBef>
            </a:pPr>
            <a:r>
              <a:rPr sz="2400" dirty="0">
                <a:latin typeface="Times New Roman"/>
                <a:cs typeface="Times New Roman"/>
              </a:rPr>
              <a:t>1.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Lexical</a:t>
            </a:r>
            <a:r>
              <a:rPr sz="2400" b="1" spc="-10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Analysis</a:t>
            </a:r>
            <a:endParaRPr sz="2400" dirty="0">
              <a:latin typeface="Times New Roman"/>
              <a:cs typeface="Times New Roman"/>
            </a:endParaRPr>
          </a:p>
          <a:p>
            <a:pPr marL="100330" indent="-97155">
              <a:spcBef>
                <a:spcPts val="770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sz="2400" dirty="0">
                <a:latin typeface="Times New Roman"/>
                <a:cs typeface="Times New Roman"/>
              </a:rPr>
              <a:t>Description: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Lexical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analysis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process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converting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stream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text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individual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tokens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(words,</a:t>
            </a:r>
            <a:endParaRPr sz="2400" dirty="0">
              <a:latin typeface="Times New Roman"/>
              <a:cs typeface="Times New Roman"/>
            </a:endParaRPr>
          </a:p>
          <a:p>
            <a:pPr marL="12700" marR="683260"/>
            <a:r>
              <a:rPr sz="2400" dirty="0">
                <a:latin typeface="Times New Roman"/>
                <a:cs typeface="Times New Roman"/>
              </a:rPr>
              <a:t>symbols,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meaningful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elements)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processed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NLP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system.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involves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identifying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and </a:t>
            </a:r>
            <a:r>
              <a:rPr sz="2400" dirty="0">
                <a:latin typeface="Times New Roman"/>
                <a:cs typeface="Times New Roman"/>
              </a:rPr>
              <a:t>categorizing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words,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which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could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involve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recognizing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numbers,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punctuation,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specific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language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rules.</a:t>
            </a:r>
            <a:endParaRPr sz="2400" dirty="0">
              <a:latin typeface="Times New Roman"/>
              <a:cs typeface="Times New Roman"/>
            </a:endParaRPr>
          </a:p>
          <a:p>
            <a:pPr marL="100330" indent="-97155">
              <a:spcBef>
                <a:spcPts val="1200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sz="2400" dirty="0">
                <a:latin typeface="Times New Roman"/>
                <a:cs typeface="Times New Roman"/>
              </a:rPr>
              <a:t>Example: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sentence,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"I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love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imes New Roman"/>
                <a:cs typeface="Times New Roman"/>
              </a:rPr>
              <a:t>NLP,"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lexical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analysis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phase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would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break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down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individual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tokens: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spcBef>
                <a:spcPts val="1200"/>
              </a:spcBef>
            </a:pPr>
            <a:r>
              <a:rPr sz="2400" dirty="0">
                <a:latin typeface="Times New Roman"/>
                <a:cs typeface="Times New Roman"/>
              </a:rPr>
              <a:t>["I",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"love",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"NLP"].</a:t>
            </a:r>
            <a:endParaRPr sz="2400" dirty="0">
              <a:latin typeface="Times New Roman"/>
              <a:cs typeface="Times New Roman"/>
            </a:endParaRPr>
          </a:p>
          <a:p>
            <a:pPr marL="100330" indent="-97155">
              <a:spcBef>
                <a:spcPts val="1200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sz="2400" dirty="0">
                <a:latin typeface="Times New Roman"/>
                <a:cs typeface="Times New Roman"/>
              </a:rPr>
              <a:t>Purpose: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To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prepare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raw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text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further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analysis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breaking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smaller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units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like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words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phrases.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9ADB6A-F951-D667-F547-FB3836BEC7FB}"/>
              </a:ext>
            </a:extLst>
          </p:cNvPr>
          <p:cNvSpPr txBox="1"/>
          <p:nvPr/>
        </p:nvSpPr>
        <p:spPr>
          <a:xfrm>
            <a:off x="457200" y="1600200"/>
            <a:ext cx="112776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Lexical Analysis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Lexical Analysis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NLP phase that processes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at word level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converts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text into meaningful tokens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operations: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Tokenization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(lowercase, remove punctuation)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Stop-word removal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Stemming / Lemmatization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Sentence: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“The students are playing.”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student, play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02272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4800" y="433308"/>
            <a:ext cx="11445240" cy="5991384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 algn="just">
              <a:spcBef>
                <a:spcPts val="1300"/>
              </a:spcBef>
            </a:pPr>
            <a:r>
              <a:rPr sz="2400" b="1" spc="-10" dirty="0">
                <a:latin typeface="Times New Roman"/>
                <a:cs typeface="Times New Roman"/>
              </a:rPr>
              <a:t>Syntactic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Analysis</a:t>
            </a:r>
            <a:endParaRPr sz="2400" dirty="0">
              <a:latin typeface="Times New Roman"/>
              <a:cs typeface="Times New Roman"/>
            </a:endParaRPr>
          </a:p>
          <a:p>
            <a:pPr marL="12700" algn="just">
              <a:spcBef>
                <a:spcPts val="1200"/>
              </a:spcBef>
            </a:pPr>
            <a:r>
              <a:rPr sz="2400" b="1" dirty="0">
                <a:latin typeface="Times New Roman"/>
                <a:cs typeface="Times New Roman"/>
              </a:rPr>
              <a:t>Focus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Grammatical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structure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relationships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between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words.</a:t>
            </a:r>
            <a:endParaRPr sz="2400" dirty="0">
              <a:latin typeface="Times New Roman"/>
              <a:cs typeface="Times New Roman"/>
            </a:endParaRPr>
          </a:p>
          <a:p>
            <a:pPr marL="12700" algn="just">
              <a:spcBef>
                <a:spcPts val="1200"/>
              </a:spcBef>
            </a:pPr>
            <a:r>
              <a:rPr sz="2400" b="1" spc="-25" dirty="0">
                <a:latin typeface="Times New Roman"/>
                <a:cs typeface="Times New Roman"/>
              </a:rPr>
              <a:t>Tasks</a:t>
            </a:r>
            <a:r>
              <a:rPr sz="2400" spc="-25" dirty="0">
                <a:latin typeface="Times New Roman"/>
                <a:cs typeface="Times New Roman"/>
              </a:rPr>
              <a:t>: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Part-of-</a:t>
            </a:r>
            <a:r>
              <a:rPr sz="2400" dirty="0">
                <a:latin typeface="Times New Roman"/>
                <a:cs typeface="Times New Roman"/>
              </a:rPr>
              <a:t>Speech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Tagging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(POS),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parsing,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dependency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analysis.</a:t>
            </a:r>
            <a:endParaRPr sz="2400" dirty="0">
              <a:latin typeface="Times New Roman"/>
              <a:cs typeface="Times New Roman"/>
            </a:endParaRPr>
          </a:p>
          <a:p>
            <a:pPr algn="just">
              <a:spcBef>
                <a:spcPts val="320"/>
              </a:spcBef>
            </a:pPr>
            <a:endParaRPr sz="2400" dirty="0">
              <a:latin typeface="Times New Roman"/>
              <a:cs typeface="Times New Roman"/>
            </a:endParaRPr>
          </a:p>
          <a:p>
            <a:pPr marL="12700" marR="5080" algn="just"/>
            <a:r>
              <a:rPr sz="2400" b="1" dirty="0">
                <a:latin typeface="Times New Roman"/>
                <a:cs typeface="Times New Roman"/>
              </a:rPr>
              <a:t>Description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Syntactic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analysis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involves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analyzing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grammatical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structure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sentence.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checks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whether</a:t>
            </a:r>
            <a:r>
              <a:rPr sz="2400" spc="5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sequence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words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follows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rules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grammar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constructs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parse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tree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represents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syntactic </a:t>
            </a:r>
            <a:r>
              <a:rPr sz="2400" dirty="0">
                <a:latin typeface="Times New Roman"/>
                <a:cs typeface="Times New Roman"/>
              </a:rPr>
              <a:t>structure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sentence.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phase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focuses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arrangement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words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sentence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how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10" dirty="0">
                <a:latin typeface="Times New Roman"/>
                <a:cs typeface="Times New Roman"/>
              </a:rPr>
              <a:t> related grammatically.</a:t>
            </a:r>
            <a:endParaRPr sz="2400" dirty="0">
              <a:latin typeface="Times New Roman"/>
              <a:cs typeface="Times New Roman"/>
            </a:endParaRPr>
          </a:p>
          <a:p>
            <a:pPr marL="12700" marR="171450" algn="just">
              <a:spcBef>
                <a:spcPts val="5"/>
              </a:spcBef>
            </a:pPr>
            <a:r>
              <a:rPr sz="2400" b="1" dirty="0">
                <a:latin typeface="Times New Roman"/>
                <a:cs typeface="Times New Roman"/>
              </a:rPr>
              <a:t>Example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sentence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"The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mat," syntactic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analysis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identifies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"The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cat"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 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subject,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"sat"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verb,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"on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mat"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prepositional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phrase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describing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where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action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occurs.</a:t>
            </a:r>
            <a:endParaRPr sz="2400" dirty="0">
              <a:latin typeface="Times New Roman"/>
              <a:cs typeface="Times New Roman"/>
            </a:endParaRPr>
          </a:p>
          <a:p>
            <a:pPr marL="12700" algn="just">
              <a:spcBef>
                <a:spcPts val="1200"/>
              </a:spcBef>
            </a:pPr>
            <a:r>
              <a:rPr sz="2400" b="1" dirty="0">
                <a:latin typeface="Times New Roman"/>
                <a:cs typeface="Times New Roman"/>
              </a:rPr>
              <a:t>Purpose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ensure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input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text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adheres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rules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grammar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derive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hierarchical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structure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that</a:t>
            </a:r>
            <a:endParaRPr sz="2400" dirty="0">
              <a:latin typeface="Times New Roman"/>
              <a:cs typeface="Times New Roman"/>
            </a:endParaRPr>
          </a:p>
          <a:p>
            <a:pPr marL="12700" algn="just">
              <a:spcBef>
                <a:spcPts val="1200"/>
              </a:spcBef>
            </a:pP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subsequent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phases.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5381" y="1552422"/>
            <a:ext cx="11560175" cy="43216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Syntactic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analysis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also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known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 parsing,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 process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analyzing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 structure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 sentence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according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 </a:t>
            </a:r>
            <a:r>
              <a:rPr sz="2400" spc="-2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rules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syntax.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breaks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down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sentence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into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constituent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parts,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identifying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grammatical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relationships </a:t>
            </a:r>
            <a:r>
              <a:rPr sz="2400" dirty="0">
                <a:latin typeface="Times New Roman"/>
                <a:cs typeface="Times New Roman"/>
              </a:rPr>
              <a:t>between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words,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phrases,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clauses.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spcBef>
                <a:spcPts val="1200"/>
              </a:spcBef>
            </a:pPr>
            <a:r>
              <a:rPr sz="2400" b="1" dirty="0">
                <a:latin typeface="Times New Roman"/>
                <a:cs typeface="Times New Roman"/>
              </a:rPr>
              <a:t>Example</a:t>
            </a:r>
            <a:r>
              <a:rPr sz="2400" b="1" spc="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2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Syntactic</a:t>
            </a:r>
            <a:r>
              <a:rPr sz="2400" b="1" spc="-12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Analysis: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spcBef>
                <a:spcPts val="1200"/>
              </a:spcBef>
            </a:pPr>
            <a:r>
              <a:rPr sz="2400" dirty="0">
                <a:latin typeface="Times New Roman"/>
                <a:cs typeface="Times New Roman"/>
              </a:rPr>
              <a:t>Consider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sentence: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spcBef>
                <a:spcPts val="1200"/>
              </a:spcBef>
            </a:pPr>
            <a:r>
              <a:rPr sz="2400" i="1" dirty="0">
                <a:latin typeface="Times New Roman"/>
                <a:cs typeface="Times New Roman"/>
              </a:rPr>
              <a:t>"The</a:t>
            </a:r>
            <a:r>
              <a:rPr sz="2400" i="1" spc="-5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quick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brown</a:t>
            </a:r>
            <a:r>
              <a:rPr sz="2400" i="1" spc="-4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fox</a:t>
            </a:r>
            <a:r>
              <a:rPr sz="2400" i="1" spc="-1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jumps</a:t>
            </a:r>
            <a:r>
              <a:rPr sz="2400" i="1" spc="-4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over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the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lazy</a:t>
            </a:r>
            <a:r>
              <a:rPr sz="2400" i="1" spc="-30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dog."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spcBef>
                <a:spcPts val="1200"/>
              </a:spcBef>
            </a:pPr>
            <a:r>
              <a:rPr sz="2400" b="1" dirty="0">
                <a:latin typeface="Times New Roman"/>
                <a:cs typeface="Times New Roman"/>
              </a:rPr>
              <a:t>1.Step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1: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Tokenization</a:t>
            </a:r>
            <a:endParaRPr sz="2400" dirty="0">
              <a:latin typeface="Times New Roman"/>
              <a:cs typeface="Times New Roman"/>
            </a:endParaRPr>
          </a:p>
          <a:p>
            <a:pPr marL="12700" marR="3671570"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Break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sentence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individual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tokens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(words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punctuation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marks). Tokens: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"The",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"quick",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"brown",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"fox",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"jumps",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"over",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"the",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"lazy",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"dog"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4800" y="19050"/>
            <a:ext cx="4170679" cy="6507551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2400" b="1" dirty="0">
                <a:latin typeface="Times New Roman"/>
                <a:cs typeface="Times New Roman"/>
              </a:rPr>
              <a:t>Step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2: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Identify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Parts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Speech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(POS)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Times New Roman"/>
                <a:cs typeface="Times New Roman"/>
              </a:rPr>
              <a:t>Assign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parts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speech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each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token:</a:t>
            </a:r>
            <a:endParaRPr sz="2400" dirty="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spcBef>
                <a:spcPts val="1200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sz="2400" dirty="0">
                <a:latin typeface="Times New Roman"/>
                <a:cs typeface="Times New Roman"/>
              </a:rPr>
              <a:t>"The"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→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Determiner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(DET)</a:t>
            </a:r>
            <a:endParaRPr sz="2400" dirty="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spcBef>
                <a:spcPts val="1200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sz="2400" dirty="0">
                <a:latin typeface="Times New Roman"/>
                <a:cs typeface="Times New Roman"/>
              </a:rPr>
              <a:t>"quick"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→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Adjective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(ADJ)</a:t>
            </a:r>
            <a:endParaRPr sz="2400" dirty="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spcBef>
                <a:spcPts val="1205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sz="2400" dirty="0">
                <a:latin typeface="Times New Roman"/>
                <a:cs typeface="Times New Roman"/>
              </a:rPr>
              <a:t>"brown"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→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Adjective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(ADJ)</a:t>
            </a:r>
            <a:endParaRPr sz="2400" dirty="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spcBef>
                <a:spcPts val="1200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sz="2400" dirty="0">
                <a:latin typeface="Times New Roman"/>
                <a:cs typeface="Times New Roman"/>
              </a:rPr>
              <a:t>"fox"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→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Noun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(N)</a:t>
            </a:r>
            <a:endParaRPr sz="2400" dirty="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spcBef>
                <a:spcPts val="1200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sz="2400" dirty="0">
                <a:latin typeface="Times New Roman"/>
                <a:cs typeface="Times New Roman"/>
              </a:rPr>
              <a:t>"jumps"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→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Verb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(V)</a:t>
            </a:r>
            <a:endParaRPr sz="2400" dirty="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spcBef>
                <a:spcPts val="1200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sz="2400" dirty="0">
                <a:latin typeface="Times New Roman"/>
                <a:cs typeface="Times New Roman"/>
              </a:rPr>
              <a:t>"over"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→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Preposition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(PREP)</a:t>
            </a:r>
            <a:endParaRPr sz="2400" dirty="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spcBef>
                <a:spcPts val="1200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sz="2400" dirty="0">
                <a:latin typeface="Times New Roman"/>
                <a:cs typeface="Times New Roman"/>
              </a:rPr>
              <a:t>"the"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→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Determiner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(DET)</a:t>
            </a:r>
            <a:endParaRPr sz="2400" dirty="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spcBef>
                <a:spcPts val="1200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sz="2400" dirty="0">
                <a:latin typeface="Times New Roman"/>
                <a:cs typeface="Times New Roman"/>
              </a:rPr>
              <a:t>"lazy"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→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Adjective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(ADJ)</a:t>
            </a:r>
            <a:endParaRPr sz="2400" dirty="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spcBef>
                <a:spcPts val="1200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sz="2400" dirty="0">
                <a:latin typeface="Times New Roman"/>
                <a:cs typeface="Times New Roman"/>
              </a:rPr>
              <a:t>"dog"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→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Noun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(N)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4800" y="201295"/>
            <a:ext cx="11430000" cy="59221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745" indent="-114300">
              <a:lnSpc>
                <a:spcPct val="100000"/>
              </a:lnSpc>
              <a:spcBef>
                <a:spcPts val="100"/>
              </a:spcBef>
              <a:buSzPct val="95833"/>
              <a:buFont typeface="Times New Roman"/>
              <a:buChar char="•"/>
              <a:tabLst>
                <a:tab pos="118745" algn="l"/>
              </a:tabLst>
            </a:pPr>
            <a:r>
              <a:rPr sz="2400" b="1" dirty="0">
                <a:latin typeface="Times New Roman"/>
                <a:cs typeface="Times New Roman"/>
              </a:rPr>
              <a:t>Step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3: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Parse</a:t>
            </a:r>
            <a:r>
              <a:rPr sz="2400" b="1" spc="-105" dirty="0">
                <a:latin typeface="Times New Roman"/>
                <a:cs typeface="Times New Roman"/>
              </a:rPr>
              <a:t> </a:t>
            </a:r>
            <a:r>
              <a:rPr sz="2400" b="1" spc="-30" dirty="0">
                <a:latin typeface="Times New Roman"/>
                <a:cs typeface="Times New Roman"/>
              </a:rPr>
              <a:t>Tree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Creation</a:t>
            </a:r>
            <a:endParaRPr sz="2400" dirty="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Build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hierarchical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structure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(parse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tree)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shows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how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words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grouped </a:t>
            </a:r>
            <a:r>
              <a:rPr sz="2400" dirty="0">
                <a:latin typeface="Times New Roman"/>
                <a:cs typeface="Times New Roman"/>
              </a:rPr>
              <a:t>together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form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phrases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how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phrases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structured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form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complete sentence.</a:t>
            </a:r>
            <a:endParaRPr sz="2400" dirty="0">
              <a:latin typeface="Times New Roman"/>
              <a:cs typeface="Times New Roman"/>
            </a:endParaRPr>
          </a:p>
          <a:p>
            <a:pPr marL="118745" indent="-114300">
              <a:lnSpc>
                <a:spcPct val="100000"/>
              </a:lnSpc>
              <a:buSzPct val="95833"/>
              <a:buFont typeface="Times New Roman"/>
              <a:buChar char="•"/>
              <a:tabLst>
                <a:tab pos="118745" algn="l"/>
              </a:tabLst>
            </a:pPr>
            <a:r>
              <a:rPr sz="2400" b="1" dirty="0">
                <a:latin typeface="Times New Roman"/>
                <a:cs typeface="Times New Roman"/>
              </a:rPr>
              <a:t>Noun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Phrase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(NP)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→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"The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quick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brown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fox"</a:t>
            </a:r>
            <a:endParaRPr sz="2400" dirty="0">
              <a:latin typeface="Times New Roman"/>
              <a:cs typeface="Times New Roman"/>
            </a:endParaRPr>
          </a:p>
          <a:p>
            <a:pPr marL="575945" lvl="1" indent="-114300">
              <a:lnSpc>
                <a:spcPct val="100000"/>
              </a:lnSpc>
              <a:buSzPct val="95833"/>
              <a:buFont typeface="Times New Roman"/>
              <a:buChar char="•"/>
              <a:tabLst>
                <a:tab pos="575945" algn="l"/>
              </a:tabLst>
            </a:pPr>
            <a:r>
              <a:rPr sz="2400" b="1" dirty="0">
                <a:latin typeface="Times New Roman"/>
                <a:cs typeface="Times New Roman"/>
              </a:rPr>
              <a:t>DET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→</a:t>
            </a:r>
            <a:r>
              <a:rPr sz="2400" spc="-10" dirty="0">
                <a:latin typeface="Times New Roman"/>
                <a:cs typeface="Times New Roman"/>
              </a:rPr>
              <a:t> "The"</a:t>
            </a:r>
            <a:endParaRPr sz="2400" dirty="0">
              <a:latin typeface="Times New Roman"/>
              <a:cs typeface="Times New Roman"/>
            </a:endParaRPr>
          </a:p>
          <a:p>
            <a:pPr marL="575945" lvl="1" indent="-114300">
              <a:lnSpc>
                <a:spcPct val="100000"/>
              </a:lnSpc>
              <a:spcBef>
                <a:spcPts val="5"/>
              </a:spcBef>
              <a:buSzPct val="95833"/>
              <a:buFont typeface="Times New Roman"/>
              <a:buChar char="•"/>
              <a:tabLst>
                <a:tab pos="575945" algn="l"/>
              </a:tabLst>
            </a:pPr>
            <a:r>
              <a:rPr sz="2400" b="1" dirty="0">
                <a:latin typeface="Times New Roman"/>
                <a:cs typeface="Times New Roman"/>
              </a:rPr>
              <a:t>ADJ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→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"quick"</a:t>
            </a:r>
            <a:endParaRPr sz="2400" dirty="0">
              <a:latin typeface="Times New Roman"/>
              <a:cs typeface="Times New Roman"/>
            </a:endParaRPr>
          </a:p>
          <a:p>
            <a:pPr marL="575945" lvl="1" indent="-114300">
              <a:lnSpc>
                <a:spcPct val="100000"/>
              </a:lnSpc>
              <a:buSzPct val="95833"/>
              <a:buFont typeface="Times New Roman"/>
              <a:buChar char="•"/>
              <a:tabLst>
                <a:tab pos="575945" algn="l"/>
              </a:tabLst>
            </a:pPr>
            <a:r>
              <a:rPr sz="2400" b="1" dirty="0">
                <a:latin typeface="Times New Roman"/>
                <a:cs typeface="Times New Roman"/>
              </a:rPr>
              <a:t>ADJ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→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"brown"</a:t>
            </a:r>
            <a:endParaRPr sz="2400" dirty="0">
              <a:latin typeface="Times New Roman"/>
              <a:cs typeface="Times New Roman"/>
            </a:endParaRPr>
          </a:p>
          <a:p>
            <a:pPr marL="575945" lvl="1" indent="-114300">
              <a:lnSpc>
                <a:spcPct val="100000"/>
              </a:lnSpc>
              <a:buSzPct val="95833"/>
              <a:buFont typeface="Times New Roman"/>
              <a:buChar char="•"/>
              <a:tabLst>
                <a:tab pos="575945" algn="l"/>
              </a:tabLst>
            </a:pPr>
            <a:r>
              <a:rPr sz="2400" b="1" dirty="0">
                <a:latin typeface="Times New Roman"/>
                <a:cs typeface="Times New Roman"/>
              </a:rPr>
              <a:t>N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→</a:t>
            </a:r>
            <a:r>
              <a:rPr sz="2400" spc="-10" dirty="0">
                <a:latin typeface="Times New Roman"/>
                <a:cs typeface="Times New Roman"/>
              </a:rPr>
              <a:t> "fox"</a:t>
            </a:r>
            <a:endParaRPr sz="2400" dirty="0">
              <a:latin typeface="Times New Roman"/>
              <a:cs typeface="Times New Roman"/>
            </a:endParaRPr>
          </a:p>
          <a:p>
            <a:pPr marL="118745" indent="-114300">
              <a:lnSpc>
                <a:spcPct val="100000"/>
              </a:lnSpc>
              <a:buSzPct val="95833"/>
              <a:buFont typeface="Times New Roman"/>
              <a:buChar char="•"/>
              <a:tabLst>
                <a:tab pos="118745" algn="l"/>
              </a:tabLst>
            </a:pPr>
            <a:r>
              <a:rPr sz="2400" b="1" spc="-35" dirty="0">
                <a:latin typeface="Times New Roman"/>
                <a:cs typeface="Times New Roman"/>
              </a:rPr>
              <a:t>Verb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Phrase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(VP)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→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"jumps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over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lazy</a:t>
            </a:r>
            <a:r>
              <a:rPr sz="2400" spc="-20" dirty="0">
                <a:latin typeface="Times New Roman"/>
                <a:cs typeface="Times New Roman"/>
              </a:rPr>
              <a:t> dog"</a:t>
            </a:r>
            <a:endParaRPr sz="2400" dirty="0">
              <a:latin typeface="Times New Roman"/>
              <a:cs typeface="Times New Roman"/>
            </a:endParaRPr>
          </a:p>
          <a:p>
            <a:pPr marL="575945" lvl="1" indent="-114300">
              <a:lnSpc>
                <a:spcPct val="100000"/>
              </a:lnSpc>
              <a:buSzPct val="95833"/>
              <a:buFont typeface="Times New Roman"/>
              <a:buChar char="•"/>
              <a:tabLst>
                <a:tab pos="575945" algn="l"/>
              </a:tabLst>
            </a:pPr>
            <a:r>
              <a:rPr sz="2400" b="1" dirty="0">
                <a:latin typeface="Times New Roman"/>
                <a:cs typeface="Times New Roman"/>
              </a:rPr>
              <a:t>V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→</a:t>
            </a:r>
            <a:r>
              <a:rPr sz="2400" spc="-10" dirty="0">
                <a:latin typeface="Times New Roman"/>
                <a:cs typeface="Times New Roman"/>
              </a:rPr>
              <a:t> "jumps"</a:t>
            </a:r>
            <a:endParaRPr sz="2400" dirty="0">
              <a:latin typeface="Times New Roman"/>
              <a:cs typeface="Times New Roman"/>
            </a:endParaRPr>
          </a:p>
          <a:p>
            <a:pPr marL="575945" lvl="1" indent="-114300">
              <a:lnSpc>
                <a:spcPct val="100000"/>
              </a:lnSpc>
              <a:buSzPct val="95833"/>
              <a:buFont typeface="Times New Roman"/>
              <a:buChar char="•"/>
              <a:tabLst>
                <a:tab pos="575945" algn="l"/>
              </a:tabLst>
            </a:pPr>
            <a:r>
              <a:rPr sz="2400" b="1" dirty="0">
                <a:latin typeface="Times New Roman"/>
                <a:cs typeface="Times New Roman"/>
              </a:rPr>
              <a:t>Prepositional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Phrase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(PP)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→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"over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lazy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dog"</a:t>
            </a:r>
            <a:endParaRPr sz="2400" dirty="0">
              <a:latin typeface="Times New Roman"/>
              <a:cs typeface="Times New Roman"/>
            </a:endParaRPr>
          </a:p>
          <a:p>
            <a:pPr marL="1032510" lvl="2" indent="-114300">
              <a:lnSpc>
                <a:spcPct val="100000"/>
              </a:lnSpc>
              <a:buSzPct val="95833"/>
              <a:buFont typeface="Times New Roman"/>
              <a:buChar char="•"/>
              <a:tabLst>
                <a:tab pos="1032510" algn="l"/>
              </a:tabLst>
            </a:pPr>
            <a:r>
              <a:rPr sz="2400" b="1" dirty="0">
                <a:latin typeface="Times New Roman"/>
                <a:cs typeface="Times New Roman"/>
              </a:rPr>
              <a:t>PREP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→ </a:t>
            </a:r>
            <a:r>
              <a:rPr sz="2400" spc="-10" dirty="0">
                <a:latin typeface="Times New Roman"/>
                <a:cs typeface="Times New Roman"/>
              </a:rPr>
              <a:t>"over"</a:t>
            </a:r>
            <a:endParaRPr sz="2400" dirty="0">
              <a:latin typeface="Times New Roman"/>
              <a:cs typeface="Times New Roman"/>
            </a:endParaRPr>
          </a:p>
          <a:p>
            <a:pPr marL="1032510" lvl="2" indent="-114300">
              <a:lnSpc>
                <a:spcPct val="100000"/>
              </a:lnSpc>
              <a:buSzPct val="95833"/>
              <a:buFont typeface="Times New Roman"/>
              <a:buChar char="•"/>
              <a:tabLst>
                <a:tab pos="1032510" algn="l"/>
              </a:tabLst>
            </a:pPr>
            <a:r>
              <a:rPr sz="2400" b="1" dirty="0">
                <a:latin typeface="Times New Roman"/>
                <a:cs typeface="Times New Roman"/>
              </a:rPr>
              <a:t>Noun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Phrase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(NP)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→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"the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lazy</a:t>
            </a:r>
            <a:r>
              <a:rPr sz="2400" spc="-20" dirty="0">
                <a:latin typeface="Times New Roman"/>
                <a:cs typeface="Times New Roman"/>
              </a:rPr>
              <a:t> dog"</a:t>
            </a:r>
            <a:endParaRPr sz="2400" dirty="0">
              <a:latin typeface="Times New Roman"/>
              <a:cs typeface="Times New Roman"/>
            </a:endParaRPr>
          </a:p>
          <a:p>
            <a:pPr marL="1490345" lvl="3" indent="-114300">
              <a:lnSpc>
                <a:spcPct val="100000"/>
              </a:lnSpc>
              <a:buSzPct val="95833"/>
              <a:buFont typeface="Times New Roman"/>
              <a:buChar char="•"/>
              <a:tabLst>
                <a:tab pos="1490345" algn="l"/>
              </a:tabLst>
            </a:pPr>
            <a:r>
              <a:rPr sz="2400" b="1" dirty="0">
                <a:latin typeface="Times New Roman"/>
                <a:cs typeface="Times New Roman"/>
              </a:rPr>
              <a:t>DET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→</a:t>
            </a:r>
            <a:r>
              <a:rPr sz="2400" spc="-10" dirty="0">
                <a:latin typeface="Times New Roman"/>
                <a:cs typeface="Times New Roman"/>
              </a:rPr>
              <a:t> "the"</a:t>
            </a:r>
            <a:endParaRPr sz="2400" dirty="0">
              <a:latin typeface="Times New Roman"/>
              <a:cs typeface="Times New Roman"/>
            </a:endParaRPr>
          </a:p>
          <a:p>
            <a:pPr marL="1490345" lvl="3" indent="-114300">
              <a:lnSpc>
                <a:spcPct val="100000"/>
              </a:lnSpc>
              <a:spcBef>
                <a:spcPts val="5"/>
              </a:spcBef>
              <a:buSzPct val="95833"/>
              <a:buFont typeface="Times New Roman"/>
              <a:buChar char="•"/>
              <a:tabLst>
                <a:tab pos="1490345" algn="l"/>
              </a:tabLst>
            </a:pPr>
            <a:r>
              <a:rPr sz="2400" b="1" dirty="0">
                <a:latin typeface="Times New Roman"/>
                <a:cs typeface="Times New Roman"/>
              </a:rPr>
              <a:t>ADJ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→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"lazy"</a:t>
            </a:r>
            <a:endParaRPr sz="2400" dirty="0">
              <a:latin typeface="Times New Roman"/>
              <a:cs typeface="Times New Roman"/>
            </a:endParaRPr>
          </a:p>
          <a:p>
            <a:pPr marL="1490345" lvl="3" indent="-114300">
              <a:lnSpc>
                <a:spcPct val="100000"/>
              </a:lnSpc>
              <a:buSzPct val="95833"/>
              <a:buFont typeface="Times New Roman"/>
              <a:buChar char="•"/>
              <a:tabLst>
                <a:tab pos="1490345" algn="l"/>
              </a:tabLst>
            </a:pPr>
            <a:r>
              <a:rPr sz="2400" b="1" dirty="0">
                <a:latin typeface="Times New Roman"/>
                <a:cs typeface="Times New Roman"/>
              </a:rPr>
              <a:t>N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→</a:t>
            </a:r>
            <a:r>
              <a:rPr sz="2400" spc="-10" dirty="0">
                <a:latin typeface="Times New Roman"/>
                <a:cs typeface="Times New Roman"/>
              </a:rPr>
              <a:t> "dog"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400" y="1676400"/>
            <a:ext cx="11811000" cy="2772554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241300" indent="-231775" algn="just">
              <a:spcBef>
                <a:spcPts val="1540"/>
              </a:spcBef>
              <a:buSzPct val="95833"/>
              <a:buFont typeface="Times New Roman"/>
              <a:buAutoNum type="arabicPeriod"/>
              <a:tabLst>
                <a:tab pos="241300" algn="l"/>
              </a:tabLst>
            </a:pPr>
            <a:r>
              <a:rPr sz="2400" b="1" dirty="0">
                <a:latin typeface="Times New Roman"/>
                <a:cs typeface="Times New Roman"/>
              </a:rPr>
              <a:t>Step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4: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Sentence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Structure</a:t>
            </a:r>
            <a:endParaRPr sz="2400" dirty="0">
              <a:latin typeface="Times New Roman"/>
              <a:cs typeface="Times New Roman"/>
            </a:endParaRPr>
          </a:p>
          <a:p>
            <a:pPr marL="12700" algn="just">
              <a:spcBef>
                <a:spcPts val="1440"/>
              </a:spcBef>
            </a:pPr>
            <a:r>
              <a:rPr sz="2400" dirty="0">
                <a:latin typeface="Times New Roman"/>
                <a:cs typeface="Times New Roman"/>
              </a:rPr>
              <a:t>Combine 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noun phrase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 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verb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phrase to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reflect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overall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sentence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structure:</a:t>
            </a:r>
            <a:endParaRPr sz="2400" dirty="0">
              <a:latin typeface="Times New Roman"/>
              <a:cs typeface="Times New Roman"/>
            </a:endParaRPr>
          </a:p>
          <a:p>
            <a:pPr marL="755650" lvl="1" indent="-285750" algn="just">
              <a:spcBef>
                <a:spcPts val="1440"/>
              </a:spcBef>
              <a:buAutoNum type="arabicPeriod"/>
              <a:tabLst>
                <a:tab pos="755650" algn="l"/>
              </a:tabLst>
            </a:pPr>
            <a:r>
              <a:rPr sz="2400" b="1" dirty="0">
                <a:latin typeface="Times New Roman"/>
                <a:cs typeface="Times New Roman"/>
              </a:rPr>
              <a:t>Sentence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(S)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→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NP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+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VP</a:t>
            </a:r>
            <a:endParaRPr sz="2400" dirty="0">
              <a:latin typeface="Times New Roman"/>
              <a:cs typeface="Times New Roman"/>
            </a:endParaRPr>
          </a:p>
          <a:p>
            <a:pPr marL="12700" marR="5080" algn="just"/>
            <a:r>
              <a:rPr sz="2400" dirty="0">
                <a:latin typeface="Times New Roman"/>
                <a:cs typeface="Times New Roman"/>
              </a:rPr>
              <a:t>Thus,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syntactic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structure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sentence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shown as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hierarchical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relationship,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where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words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grouped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phrases,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those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phrases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combine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form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sentence.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This </a:t>
            </a:r>
            <a:r>
              <a:rPr sz="2400" dirty="0">
                <a:latin typeface="Times New Roman"/>
                <a:cs typeface="Times New Roman"/>
              </a:rPr>
              <a:t>helps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understanding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grammatical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construction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sentence.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1000" y="600341"/>
            <a:ext cx="11658600" cy="5287986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12700" algn="just">
              <a:spcBef>
                <a:spcPts val="1295"/>
              </a:spcBef>
            </a:pPr>
            <a:r>
              <a:rPr sz="2400" b="1" spc="-10" dirty="0">
                <a:latin typeface="Times New Roman"/>
                <a:cs typeface="Times New Roman"/>
              </a:rPr>
              <a:t>Semantic</a:t>
            </a:r>
            <a:r>
              <a:rPr sz="2400" b="1" spc="-9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Analysis</a:t>
            </a:r>
            <a:endParaRPr sz="2400" dirty="0">
              <a:latin typeface="Times New Roman"/>
              <a:cs typeface="Times New Roman"/>
            </a:endParaRPr>
          </a:p>
          <a:p>
            <a:pPr marL="12700" algn="just">
              <a:spcBef>
                <a:spcPts val="1200"/>
              </a:spcBef>
            </a:pPr>
            <a:r>
              <a:rPr sz="2400" b="1" dirty="0">
                <a:latin typeface="Times New Roman"/>
                <a:cs typeface="Times New Roman"/>
              </a:rPr>
              <a:t>Focus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Understanding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meaning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context.</a:t>
            </a:r>
            <a:endParaRPr sz="2400" dirty="0">
              <a:latin typeface="Times New Roman"/>
              <a:cs typeface="Times New Roman"/>
            </a:endParaRPr>
          </a:p>
          <a:p>
            <a:pPr algn="just"/>
            <a:endParaRPr sz="2400" dirty="0">
              <a:latin typeface="Times New Roman"/>
              <a:cs typeface="Times New Roman"/>
            </a:endParaRPr>
          </a:p>
          <a:p>
            <a:pPr algn="just">
              <a:spcBef>
                <a:spcPts val="105"/>
              </a:spcBef>
            </a:pPr>
            <a:endParaRPr sz="2400" dirty="0">
              <a:latin typeface="Times New Roman"/>
              <a:cs typeface="Times New Roman"/>
            </a:endParaRPr>
          </a:p>
          <a:p>
            <a:pPr marL="12700" marR="157480" indent="-9525" algn="just">
              <a:buSzPct val="95000"/>
              <a:buFont typeface="Times New Roman"/>
              <a:buChar char="•"/>
              <a:tabLst>
                <a:tab pos="100330" algn="l"/>
              </a:tabLst>
            </a:pPr>
            <a:r>
              <a:rPr sz="2400" b="1" dirty="0">
                <a:latin typeface="Times New Roman"/>
                <a:cs typeface="Times New Roman"/>
              </a:rPr>
              <a:t>Description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Semantic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analysis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process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understanding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meaning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words,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phrases,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and </a:t>
            </a:r>
            <a:r>
              <a:rPr sz="2400" dirty="0">
                <a:latin typeface="Times New Roman"/>
                <a:cs typeface="Times New Roman"/>
              </a:rPr>
              <a:t>sentences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given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context.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involves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resolving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meanings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words,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determining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relationships </a:t>
            </a:r>
            <a:r>
              <a:rPr sz="2400" dirty="0">
                <a:latin typeface="Times New Roman"/>
                <a:cs typeface="Times New Roman"/>
              </a:rPr>
              <a:t>between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them,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ensuring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sentence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makes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sense.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phase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often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deals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resolving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issues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ambiguity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determining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word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meanings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based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context.</a:t>
            </a:r>
            <a:endParaRPr sz="2400" dirty="0">
              <a:latin typeface="Times New Roman"/>
              <a:cs typeface="Times New Roman"/>
            </a:endParaRPr>
          </a:p>
          <a:p>
            <a:pPr marL="12700" marR="54610" indent="-9525" algn="just">
              <a:spcBef>
                <a:spcPts val="5"/>
              </a:spcBef>
              <a:buSzPct val="95000"/>
              <a:buFont typeface="Times New Roman"/>
              <a:buChar char="•"/>
              <a:tabLst>
                <a:tab pos="100330" algn="l"/>
              </a:tabLst>
            </a:pPr>
            <a:r>
              <a:rPr sz="2400" b="1" dirty="0">
                <a:latin typeface="Times New Roman"/>
                <a:cs typeface="Times New Roman"/>
              </a:rPr>
              <a:t>Example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sentence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"He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saw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bank,"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semantic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analysis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would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determine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whether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"bank"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refers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financial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institution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side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river,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based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surrounding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context.</a:t>
            </a:r>
            <a:endParaRPr sz="2400" dirty="0">
              <a:latin typeface="Times New Roman"/>
              <a:cs typeface="Times New Roman"/>
            </a:endParaRPr>
          </a:p>
          <a:p>
            <a:pPr marL="100330" indent="-97155" algn="just">
              <a:spcBef>
                <a:spcPts val="1200"/>
              </a:spcBef>
              <a:buSzPct val="95000"/>
              <a:buFont typeface="Times New Roman"/>
              <a:buChar char="•"/>
              <a:tabLst>
                <a:tab pos="100330" algn="l"/>
              </a:tabLst>
            </a:pPr>
            <a:r>
              <a:rPr sz="2400" b="1" dirty="0">
                <a:latin typeface="Times New Roman"/>
                <a:cs typeface="Times New Roman"/>
              </a:rPr>
              <a:t>Purpose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Times New Roman"/>
                <a:cs typeface="Times New Roman"/>
              </a:rPr>
              <a:t>To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extract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meaning from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 sentence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ensure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logically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contextually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coherent.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8600" y="522579"/>
            <a:ext cx="11887200" cy="55964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Semantic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analysis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involves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understanding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meaning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words,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phrases,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sentences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context.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seeks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extract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meaning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conveyed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text,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rather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just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grammatical</a:t>
            </a:r>
            <a:r>
              <a:rPr sz="2400" spc="-10" dirty="0">
                <a:latin typeface="Times New Roman"/>
                <a:cs typeface="Times New Roman"/>
              </a:rPr>
              <a:t> structure.</a:t>
            </a:r>
            <a:endParaRPr lang="en-US" sz="2400" spc="-10" dirty="0">
              <a:latin typeface="Times New Roman"/>
              <a:cs typeface="Times New Roman"/>
            </a:endParaRPr>
          </a:p>
          <a:p>
            <a:pPr marL="12700" marR="5080"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Example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Semantic</a:t>
            </a:r>
            <a:r>
              <a:rPr sz="2400" b="1" spc="-14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Analysis: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spcBef>
                <a:spcPts val="1200"/>
              </a:spcBef>
            </a:pPr>
            <a:r>
              <a:rPr sz="2400" dirty="0">
                <a:latin typeface="Times New Roman"/>
                <a:cs typeface="Times New Roman"/>
              </a:rPr>
              <a:t>Consider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 err="1">
                <a:latin typeface="Times New Roman"/>
                <a:cs typeface="Times New Roman"/>
              </a:rPr>
              <a:t>sentence:</a:t>
            </a:r>
            <a:r>
              <a:rPr sz="2400" i="1" dirty="0" err="1">
                <a:latin typeface="Times New Roman"/>
                <a:cs typeface="Times New Roman"/>
              </a:rPr>
              <a:t>"John</a:t>
            </a:r>
            <a:r>
              <a:rPr sz="2400" i="1" spc="-4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gave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the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book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to </a:t>
            </a:r>
            <a:r>
              <a:rPr sz="2400" i="1" spc="-10" dirty="0">
                <a:latin typeface="Times New Roman"/>
                <a:cs typeface="Times New Roman"/>
              </a:rPr>
              <a:t>Mary."</a:t>
            </a:r>
            <a:endParaRPr sz="2400" dirty="0">
              <a:latin typeface="Times New Roman"/>
              <a:cs typeface="Times New Roman"/>
            </a:endParaRPr>
          </a:p>
          <a:p>
            <a:pPr marL="12700"/>
            <a:r>
              <a:rPr lang="en-US" sz="2400" dirty="0">
                <a:latin typeface="Times New Roman"/>
                <a:cs typeface="Times New Roman"/>
              </a:rPr>
              <a:t>S</a:t>
            </a:r>
            <a:r>
              <a:rPr sz="2400" b="1" dirty="0">
                <a:latin typeface="Times New Roman"/>
                <a:cs typeface="Times New Roman"/>
              </a:rPr>
              <a:t>tep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1: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Identify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Semantic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Roles</a:t>
            </a:r>
            <a:endParaRPr sz="2400" dirty="0">
              <a:latin typeface="Times New Roman"/>
              <a:cs typeface="Times New Roman"/>
            </a:endParaRPr>
          </a:p>
          <a:p>
            <a:pPr marL="100330" indent="-97155">
              <a:spcBef>
                <a:spcPts val="1200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sz="2400" b="1" dirty="0">
                <a:latin typeface="Times New Roman"/>
                <a:cs typeface="Times New Roman"/>
              </a:rPr>
              <a:t>John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agent</a:t>
            </a:r>
            <a:r>
              <a:rPr sz="2400" i="1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who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performs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action).</a:t>
            </a:r>
            <a:endParaRPr sz="2400" dirty="0">
              <a:latin typeface="Times New Roman"/>
              <a:cs typeface="Times New Roman"/>
            </a:endParaRPr>
          </a:p>
          <a:p>
            <a:pPr marL="100330" indent="-97155">
              <a:spcBef>
                <a:spcPts val="1200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sz="2400" b="1" dirty="0">
                <a:latin typeface="Times New Roman"/>
                <a:cs typeface="Times New Roman"/>
              </a:rPr>
              <a:t>The book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theme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object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transferred).</a:t>
            </a:r>
            <a:endParaRPr sz="2400" dirty="0">
              <a:latin typeface="Times New Roman"/>
              <a:cs typeface="Times New Roman"/>
            </a:endParaRPr>
          </a:p>
          <a:p>
            <a:pPr marL="100330" indent="-97155">
              <a:spcBef>
                <a:spcPts val="1200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sz="2400" b="1" dirty="0">
                <a:latin typeface="Times New Roman"/>
                <a:cs typeface="Times New Roman"/>
              </a:rPr>
              <a:t>Mary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recipient</a:t>
            </a:r>
            <a:r>
              <a:rPr sz="2400" i="1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who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receives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object).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spcBef>
                <a:spcPts val="1200"/>
              </a:spcBef>
            </a:pPr>
            <a:r>
              <a:rPr sz="2400" b="1" dirty="0">
                <a:latin typeface="Times New Roman"/>
                <a:cs typeface="Times New Roman"/>
              </a:rPr>
              <a:t>Step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2: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Disambiguation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Meaning</a:t>
            </a:r>
            <a:endParaRPr sz="2400" dirty="0">
              <a:latin typeface="Times New Roman"/>
              <a:cs typeface="Times New Roman"/>
            </a:endParaRPr>
          </a:p>
          <a:p>
            <a:pPr marL="12700" marR="821055" indent="-9525">
              <a:spcBef>
                <a:spcPts val="5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sz="2400" dirty="0">
                <a:latin typeface="Times New Roman"/>
                <a:cs typeface="Times New Roman"/>
              </a:rPr>
              <a:t>	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word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"gave"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could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interpreted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transfer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possession.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Here,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semantic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analysis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would </a:t>
            </a:r>
            <a:r>
              <a:rPr sz="2400" dirty="0">
                <a:latin typeface="Times New Roman"/>
                <a:cs typeface="Times New Roman"/>
              </a:rPr>
              <a:t>recognize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"gave"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involves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physical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metaphorical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transfer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object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case,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10" dirty="0">
                <a:latin typeface="Times New Roman"/>
                <a:cs typeface="Times New Roman"/>
              </a:rPr>
              <a:t>book).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3572" y="605383"/>
            <a:ext cx="11064240" cy="5468164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 algn="just">
              <a:spcBef>
                <a:spcPts val="1300"/>
              </a:spcBef>
            </a:pPr>
            <a:r>
              <a:rPr sz="2400" b="1" dirty="0">
                <a:latin typeface="Times New Roman"/>
                <a:cs typeface="Times New Roman"/>
              </a:rPr>
              <a:t>Step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3: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Logical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Form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Representation</a:t>
            </a:r>
            <a:endParaRPr sz="2400" dirty="0">
              <a:latin typeface="Times New Roman"/>
              <a:cs typeface="Times New Roman"/>
            </a:endParaRPr>
          </a:p>
          <a:p>
            <a:pPr marL="12700" marR="1416685" indent="-12700" algn="just">
              <a:spcBef>
                <a:spcPts val="320"/>
              </a:spcBef>
              <a:buSzPct val="92500"/>
              <a:buChar char="•"/>
              <a:tabLst>
                <a:tab pos="100330" algn="l"/>
              </a:tabLst>
            </a:pPr>
            <a:r>
              <a:rPr sz="2400" dirty="0">
                <a:latin typeface="Times New Roman"/>
                <a:cs typeface="Times New Roman"/>
              </a:rPr>
              <a:t>	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sentence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could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represented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predicate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arguments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clarify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relationships: </a:t>
            </a:r>
            <a:r>
              <a:rPr sz="2400" dirty="0">
                <a:latin typeface="Times New Roman"/>
                <a:cs typeface="Times New Roman"/>
              </a:rPr>
              <a:t>give(John,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book,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Mary)</a:t>
            </a:r>
            <a:endParaRPr sz="2400" dirty="0">
              <a:latin typeface="Times New Roman"/>
              <a:cs typeface="Times New Roman"/>
            </a:endParaRPr>
          </a:p>
          <a:p>
            <a:pPr marL="12700" marR="220979" algn="just"/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logical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form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reflects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underlying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meaning: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John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giver,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book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what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given,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Mary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is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receiver.</a:t>
            </a:r>
            <a:endParaRPr sz="2400" dirty="0">
              <a:latin typeface="Times New Roman"/>
              <a:cs typeface="Times New Roman"/>
            </a:endParaRPr>
          </a:p>
          <a:p>
            <a:pPr marL="12700" algn="just">
              <a:spcBef>
                <a:spcPts val="1245"/>
              </a:spcBef>
            </a:pPr>
            <a:r>
              <a:rPr sz="2400" b="1" dirty="0">
                <a:latin typeface="Times New Roman"/>
                <a:cs typeface="Times New Roman"/>
              </a:rPr>
              <a:t>Step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4: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Contextual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Understanding</a:t>
            </a:r>
            <a:endParaRPr sz="2400" dirty="0">
              <a:latin typeface="Times New Roman"/>
              <a:cs typeface="Times New Roman"/>
            </a:endParaRPr>
          </a:p>
          <a:p>
            <a:pPr marL="12700" marR="5080" indent="-12700" algn="just">
              <a:buSzPct val="92500"/>
              <a:buFont typeface="Arial MT"/>
              <a:buChar char="•"/>
              <a:tabLst>
                <a:tab pos="100330" algn="l"/>
              </a:tabLst>
            </a:pPr>
            <a:r>
              <a:rPr sz="2400" dirty="0">
                <a:latin typeface="Times New Roman"/>
                <a:cs typeface="Times New Roman"/>
              </a:rPr>
              <a:t>	If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sentence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were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larger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conversation,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semantic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analysis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might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look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context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understand </a:t>
            </a:r>
            <a:r>
              <a:rPr sz="2400" dirty="0">
                <a:latin typeface="Times New Roman"/>
                <a:cs typeface="Times New Roman"/>
              </a:rPr>
              <a:t>additional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nuances,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like:</a:t>
            </a:r>
            <a:endParaRPr sz="2400" dirty="0">
              <a:latin typeface="Times New Roman"/>
              <a:cs typeface="Times New Roman"/>
            </a:endParaRPr>
          </a:p>
          <a:p>
            <a:pPr marL="756285" lvl="1" indent="-286385" algn="just">
              <a:spcBef>
                <a:spcPts val="1200"/>
              </a:spcBef>
              <a:buFont typeface="Arial MT"/>
              <a:buChar char="•"/>
              <a:tabLst>
                <a:tab pos="756285" algn="l"/>
              </a:tabLst>
            </a:pPr>
            <a:r>
              <a:rPr sz="2400" spc="-30" dirty="0">
                <a:latin typeface="Times New Roman"/>
                <a:cs typeface="Times New Roman"/>
              </a:rPr>
              <a:t>Was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book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gift,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John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just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lending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it?</a:t>
            </a:r>
            <a:endParaRPr sz="2400" dirty="0">
              <a:latin typeface="Times New Roman"/>
              <a:cs typeface="Times New Roman"/>
            </a:endParaRPr>
          </a:p>
          <a:p>
            <a:pPr marL="756285" lvl="1" indent="-286385" algn="just">
              <a:spcBef>
                <a:spcPts val="1200"/>
              </a:spcBef>
              <a:buFont typeface="Arial MT"/>
              <a:buChar char="•"/>
              <a:tabLst>
                <a:tab pos="756285" algn="l"/>
              </a:tabLst>
            </a:pPr>
            <a:r>
              <a:rPr sz="2400" dirty="0">
                <a:latin typeface="Times New Roman"/>
                <a:cs typeface="Times New Roman"/>
              </a:rPr>
              <a:t>How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action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affect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relationship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between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John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Mary?</a:t>
            </a:r>
            <a:endParaRPr sz="2400" dirty="0">
              <a:latin typeface="Times New Roman"/>
              <a:cs typeface="Times New Roman"/>
            </a:endParaRPr>
          </a:p>
          <a:p>
            <a:pPr marL="12700" marR="274320" algn="just"/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way,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semantic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analysis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goes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beyond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just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identifying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words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their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parts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speech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(as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0" dirty="0">
                <a:latin typeface="Times New Roman"/>
                <a:cs typeface="Times New Roman"/>
              </a:rPr>
              <a:t> syntactic </a:t>
            </a:r>
            <a:r>
              <a:rPr sz="2400" dirty="0">
                <a:latin typeface="Times New Roman"/>
                <a:cs typeface="Times New Roman"/>
              </a:rPr>
              <a:t>analysis)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seeks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understand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relationships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meaning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between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entities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sentence.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8896" y="818235"/>
            <a:ext cx="11011104" cy="1059264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400" b="1" dirty="0">
                <a:latin typeface="Times New Roman"/>
                <a:cs typeface="Times New Roman"/>
              </a:rPr>
              <a:t>Pragmatic</a:t>
            </a:r>
            <a:r>
              <a:rPr sz="2400" b="1" spc="-14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Analysis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400" b="1" dirty="0">
                <a:latin typeface="Times New Roman"/>
                <a:cs typeface="Times New Roman"/>
              </a:rPr>
              <a:t>Focus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Context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implied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meanings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beyond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literal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interpretation.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2226" y="2137167"/>
            <a:ext cx="11250930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0965" indent="-97155">
              <a:lnSpc>
                <a:spcPct val="100000"/>
              </a:lnSpc>
              <a:spcBef>
                <a:spcPts val="105"/>
              </a:spcBef>
              <a:buSzPct val="95000"/>
              <a:buFont typeface="Times New Roman"/>
              <a:buChar char="•"/>
              <a:tabLst>
                <a:tab pos="100965" algn="l"/>
              </a:tabLst>
            </a:pPr>
            <a:r>
              <a:rPr sz="2400" b="1" dirty="0">
                <a:latin typeface="Times New Roman"/>
                <a:cs typeface="Times New Roman"/>
              </a:rPr>
              <a:t>Description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Pragmatic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analysis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focuses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understanding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intended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meaning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sentence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considering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2226" y="3581400"/>
            <a:ext cx="10967085" cy="18723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8890" algn="just">
              <a:spcBef>
                <a:spcPts val="100"/>
              </a:spcBef>
              <a:buSzPct val="95000"/>
              <a:buFont typeface="Times New Roman"/>
              <a:buChar char="•"/>
              <a:tabLst>
                <a:tab pos="100965" algn="l"/>
              </a:tabLst>
            </a:pPr>
            <a:r>
              <a:rPr sz="2400" b="1" dirty="0">
                <a:latin typeface="Times New Roman"/>
                <a:cs typeface="Times New Roman"/>
              </a:rPr>
              <a:t>Example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sentence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"Can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you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pass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salt?"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literally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question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about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ability, </a:t>
            </a:r>
            <a:r>
              <a:rPr sz="2400" dirty="0">
                <a:latin typeface="Times New Roman"/>
                <a:cs typeface="Times New Roman"/>
              </a:rPr>
              <a:t>but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pragmatic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analysis </a:t>
            </a:r>
            <a:r>
              <a:rPr sz="2400" dirty="0">
                <a:latin typeface="Times New Roman"/>
                <a:cs typeface="Times New Roman"/>
              </a:rPr>
              <a:t>interprets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polite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request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pass 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salt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 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dinner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table.</a:t>
            </a:r>
            <a:endParaRPr lang="en-US" sz="2400" spc="-10" dirty="0">
              <a:latin typeface="Times New Roman"/>
              <a:cs typeface="Times New Roman"/>
            </a:endParaRPr>
          </a:p>
          <a:p>
            <a:pPr marL="12700" marR="5080" indent="-8890" algn="just">
              <a:spcBef>
                <a:spcPts val="100"/>
              </a:spcBef>
              <a:buSzPct val="95000"/>
              <a:buFont typeface="Times New Roman"/>
              <a:buChar char="•"/>
              <a:tabLst>
                <a:tab pos="100965" algn="l"/>
              </a:tabLst>
            </a:pPr>
            <a:endParaRPr sz="2400" dirty="0">
              <a:latin typeface="Times New Roman"/>
              <a:cs typeface="Times New Roman"/>
            </a:endParaRPr>
          </a:p>
          <a:p>
            <a:pPr marL="12700" marR="367665" indent="-8890" algn="just">
              <a:buSzPct val="95000"/>
              <a:buFont typeface="Times New Roman"/>
              <a:buChar char="•"/>
              <a:tabLst>
                <a:tab pos="100965" algn="l"/>
              </a:tabLst>
            </a:pPr>
            <a:r>
              <a:rPr sz="2400" b="1" dirty="0">
                <a:latin typeface="Times New Roman"/>
                <a:cs typeface="Times New Roman"/>
              </a:rPr>
              <a:t>Purpose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interpret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meaning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beyond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literal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words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considering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context,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speaker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intentions,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and </a:t>
            </a:r>
            <a:r>
              <a:rPr sz="2400" dirty="0">
                <a:latin typeface="Times New Roman"/>
                <a:cs typeface="Times New Roman"/>
              </a:rPr>
              <a:t>situational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factors.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400" y="1533880"/>
            <a:ext cx="11658600" cy="35830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Pragmatic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analysis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focuses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understanding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how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language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context,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considering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factors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like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speaker’s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intention,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listener’s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interpretation,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situational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context.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goes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beyond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literal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meaning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interpret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implied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meanings,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indirect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speech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acts,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politeness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strategies,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social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dynamics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of </a:t>
            </a:r>
            <a:r>
              <a:rPr sz="2400" spc="-10" dirty="0">
                <a:latin typeface="Times New Roman"/>
                <a:cs typeface="Times New Roman"/>
              </a:rPr>
              <a:t>communication.</a:t>
            </a:r>
            <a:endParaRPr sz="2400" dirty="0">
              <a:latin typeface="Times New Roman"/>
              <a:cs typeface="Times New Roman"/>
            </a:endParaRPr>
          </a:p>
          <a:p>
            <a:pPr marL="12700" algn="just">
              <a:spcBef>
                <a:spcPts val="1200"/>
              </a:spcBef>
            </a:pPr>
            <a:r>
              <a:rPr sz="2400" b="1" dirty="0">
                <a:latin typeface="Times New Roman"/>
                <a:cs typeface="Times New Roman"/>
              </a:rPr>
              <a:t>Example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Pragmatic</a:t>
            </a:r>
            <a:r>
              <a:rPr sz="2400" b="1" spc="-15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Analysis:</a:t>
            </a:r>
            <a:endParaRPr sz="2400" dirty="0">
              <a:latin typeface="Times New Roman"/>
              <a:cs typeface="Times New Roman"/>
            </a:endParaRPr>
          </a:p>
          <a:p>
            <a:pPr marL="12700" algn="just">
              <a:spcBef>
                <a:spcPts val="1200"/>
              </a:spcBef>
            </a:pPr>
            <a:r>
              <a:rPr sz="2400" dirty="0">
                <a:latin typeface="Times New Roman"/>
                <a:cs typeface="Times New Roman"/>
              </a:rPr>
              <a:t>Consider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dialogue:</a:t>
            </a:r>
            <a:endParaRPr sz="2400" dirty="0">
              <a:latin typeface="Times New Roman"/>
              <a:cs typeface="Times New Roman"/>
            </a:endParaRPr>
          </a:p>
          <a:p>
            <a:pPr marL="100330" indent="-97155" algn="just">
              <a:spcBef>
                <a:spcPts val="1200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sz="2400" b="1" dirty="0">
                <a:latin typeface="Times New Roman"/>
                <a:cs typeface="Times New Roman"/>
              </a:rPr>
              <a:t>Speaker</a:t>
            </a:r>
            <a:r>
              <a:rPr sz="2400" b="1" spc="-1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"It's</a:t>
            </a:r>
            <a:r>
              <a:rPr sz="2400" i="1" spc="-3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getting</a:t>
            </a:r>
            <a:r>
              <a:rPr sz="2400" i="1" spc="-3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cold</a:t>
            </a:r>
            <a:r>
              <a:rPr sz="2400" i="1" spc="-1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in</a:t>
            </a:r>
            <a:r>
              <a:rPr sz="2400" i="1" spc="-15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here."</a:t>
            </a:r>
            <a:endParaRPr sz="2400" dirty="0">
              <a:latin typeface="Times New Roman"/>
              <a:cs typeface="Times New Roman"/>
            </a:endParaRPr>
          </a:p>
          <a:p>
            <a:pPr marL="100330" indent="-97155" algn="just">
              <a:spcBef>
                <a:spcPts val="1200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sz="2400" b="1" dirty="0">
                <a:latin typeface="Times New Roman"/>
                <a:cs typeface="Times New Roman"/>
              </a:rPr>
              <a:t>Speaker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"I'll</a:t>
            </a:r>
            <a:r>
              <a:rPr sz="2400" i="1" spc="-4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close</a:t>
            </a:r>
            <a:r>
              <a:rPr sz="2400" i="1" spc="-2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the</a:t>
            </a:r>
            <a:r>
              <a:rPr sz="2400" i="1" spc="-10" dirty="0">
                <a:latin typeface="Times New Roman"/>
                <a:cs typeface="Times New Roman"/>
              </a:rPr>
              <a:t> window."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4800" y="688185"/>
            <a:ext cx="11273155" cy="54816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dirty="0">
                <a:latin typeface="Times New Roman"/>
                <a:cs typeface="Times New Roman"/>
              </a:rPr>
              <a:t>Step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1: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Surface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Meaning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(Literal)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2400" dirty="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spcBef>
                <a:spcPts val="5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sz="2400" b="1" dirty="0">
                <a:latin typeface="Times New Roman"/>
                <a:cs typeface="Times New Roman"/>
              </a:rPr>
              <a:t>Speaker</a:t>
            </a:r>
            <a:r>
              <a:rPr sz="2400" b="1" spc="-1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's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sentence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literally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means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temperature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room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dropping.</a:t>
            </a:r>
            <a:endParaRPr sz="2400" dirty="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spcBef>
                <a:spcPts val="1200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sz="2400" b="1" dirty="0">
                <a:latin typeface="Times New Roman"/>
                <a:cs typeface="Times New Roman"/>
              </a:rPr>
              <a:t>Speaker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</a:t>
            </a:r>
            <a:r>
              <a:rPr sz="2400" dirty="0">
                <a:latin typeface="Times New Roman"/>
                <a:cs typeface="Times New Roman"/>
              </a:rPr>
              <a:t>'s sentence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means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intend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close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window.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0"/>
              </a:spcBef>
              <a:buFont typeface="Arial MT"/>
              <a:buChar char="•"/>
            </a:pP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Times New Roman"/>
                <a:cs typeface="Times New Roman"/>
              </a:rPr>
              <a:t>Step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2: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Implied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Meaning</a:t>
            </a:r>
            <a:endParaRPr sz="2400" dirty="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spcBef>
                <a:spcPts val="1200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sz="2400" spc="-10" dirty="0">
                <a:latin typeface="Times New Roman"/>
                <a:cs typeface="Times New Roman"/>
              </a:rPr>
              <a:t>Pragmatically,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Speaker</a:t>
            </a:r>
            <a:r>
              <a:rPr sz="2400" b="1" spc="-1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 </a:t>
            </a:r>
            <a:r>
              <a:rPr sz="2400" dirty="0">
                <a:latin typeface="Times New Roman"/>
                <a:cs typeface="Times New Roman"/>
              </a:rPr>
              <a:t>might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just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making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observation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about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temperature.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Instead,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Speaker</a:t>
            </a:r>
            <a:r>
              <a:rPr sz="2400" b="1" spc="-165" dirty="0">
                <a:latin typeface="Times New Roman"/>
                <a:cs typeface="Times New Roman"/>
              </a:rPr>
              <a:t> </a:t>
            </a:r>
            <a:r>
              <a:rPr sz="2400" b="1" spc="-50" dirty="0">
                <a:latin typeface="Times New Roman"/>
                <a:cs typeface="Times New Roman"/>
              </a:rPr>
              <a:t>A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2400" dirty="0">
                <a:latin typeface="Times New Roman"/>
                <a:cs typeface="Times New Roman"/>
              </a:rPr>
              <a:t>could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indirectly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asking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Speaker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something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about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like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close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window.</a:t>
            </a:r>
            <a:endParaRPr sz="2400" dirty="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spcBef>
                <a:spcPts val="1200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sz="2400" b="1" dirty="0">
                <a:latin typeface="Times New Roman"/>
                <a:cs typeface="Times New Roman"/>
              </a:rPr>
              <a:t>Speaker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understands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implied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request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responds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action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close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window.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8600" y="609600"/>
            <a:ext cx="11341100" cy="538160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400" b="1" dirty="0">
                <a:latin typeface="Times New Roman"/>
                <a:cs typeface="Times New Roman"/>
              </a:rPr>
              <a:t>Step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3: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Social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Context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Inference</a:t>
            </a:r>
            <a:endParaRPr sz="2400" dirty="0">
              <a:latin typeface="Times New Roman"/>
              <a:cs typeface="Times New Roman"/>
            </a:endParaRPr>
          </a:p>
          <a:p>
            <a:pPr>
              <a:spcBef>
                <a:spcPts val="1300"/>
              </a:spcBef>
            </a:pPr>
            <a:endParaRPr sz="2400" dirty="0">
              <a:latin typeface="Times New Roman"/>
              <a:cs typeface="Times New Roman"/>
            </a:endParaRPr>
          </a:p>
          <a:p>
            <a:pPr marL="12700" marR="140970" indent="-9525"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interaction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shows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cooperation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between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speakers.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Speaker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 </a:t>
            </a:r>
            <a:r>
              <a:rPr sz="2400" dirty="0">
                <a:latin typeface="Times New Roman"/>
                <a:cs typeface="Times New Roman"/>
              </a:rPr>
              <a:t>interprets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implied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meaning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based</a:t>
            </a:r>
            <a:r>
              <a:rPr sz="2400" spc="-25" dirty="0">
                <a:latin typeface="Times New Roman"/>
                <a:cs typeface="Times New Roman"/>
              </a:rPr>
              <a:t> on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context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(cold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air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coming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open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window)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reacts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accordingly.</a:t>
            </a:r>
            <a:endParaRPr sz="2400" dirty="0">
              <a:latin typeface="Times New Roman"/>
              <a:cs typeface="Times New Roman"/>
            </a:endParaRPr>
          </a:p>
          <a:p>
            <a:pPr marL="100330" indent="-97155">
              <a:spcBef>
                <a:spcPts val="1200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Speaker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simply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said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"Yes,</a:t>
            </a:r>
            <a:r>
              <a:rPr sz="2400" i="1" spc="-4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it</a:t>
            </a:r>
            <a:r>
              <a:rPr sz="2400" i="1" spc="-3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is"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without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taking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action,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might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have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shown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lack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understanding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of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spcBef>
                <a:spcPts val="1200"/>
              </a:spcBef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social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cue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unwillingness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help.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spcBef>
                <a:spcPts val="1205"/>
              </a:spcBef>
            </a:pPr>
            <a:r>
              <a:rPr sz="2400" b="1" dirty="0">
                <a:latin typeface="Times New Roman"/>
                <a:cs typeface="Times New Roman"/>
              </a:rPr>
              <a:t>Step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4: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Politeness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Indirectness</a:t>
            </a:r>
            <a:endParaRPr sz="2400" dirty="0">
              <a:latin typeface="Times New Roman"/>
              <a:cs typeface="Times New Roman"/>
            </a:endParaRPr>
          </a:p>
          <a:p>
            <a:pPr marL="100330" indent="-97155">
              <a:spcBef>
                <a:spcPts val="1200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sz="2400" b="1" dirty="0">
                <a:latin typeface="Times New Roman"/>
                <a:cs typeface="Times New Roman"/>
              </a:rPr>
              <a:t>Speaker</a:t>
            </a:r>
            <a:r>
              <a:rPr sz="2400" b="1" spc="-1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indirect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language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polite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rather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directly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saying, </a:t>
            </a:r>
            <a:r>
              <a:rPr sz="2400" i="1" dirty="0">
                <a:latin typeface="Times New Roman"/>
                <a:cs typeface="Times New Roman"/>
              </a:rPr>
              <a:t>"Please</a:t>
            </a:r>
            <a:r>
              <a:rPr sz="2400" i="1" spc="-4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close</a:t>
            </a:r>
            <a:r>
              <a:rPr sz="2400" i="1" spc="-3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the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i="1" spc="-20" dirty="0">
                <a:latin typeface="Times New Roman"/>
                <a:cs typeface="Times New Roman"/>
              </a:rPr>
              <a:t>window."</a:t>
            </a:r>
            <a:r>
              <a:rPr sz="2400" i="1" spc="-6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This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spcBef>
                <a:spcPts val="1200"/>
              </a:spcBef>
            </a:pPr>
            <a:r>
              <a:rPr sz="2400" dirty="0">
                <a:latin typeface="Times New Roman"/>
                <a:cs typeface="Times New Roman"/>
              </a:rPr>
              <a:t>strategy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softens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request,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making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conversation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more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polite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less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demanding.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3240" y="1371600"/>
            <a:ext cx="4668520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1" dirty="0">
                <a:latin typeface="Times New Roman"/>
                <a:cs typeface="Times New Roman"/>
              </a:rPr>
              <a:t>Pragmatic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Interpretation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523240" y="2286000"/>
            <a:ext cx="11145520" cy="149079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spcBef>
                <a:spcPts val="105"/>
              </a:spcBef>
            </a:pPr>
            <a:r>
              <a:rPr sz="2400" dirty="0"/>
              <a:t>Here,</a:t>
            </a:r>
            <a:r>
              <a:rPr sz="2400" spc="-50" dirty="0"/>
              <a:t> </a:t>
            </a:r>
            <a:r>
              <a:rPr sz="2400" dirty="0"/>
              <a:t>pragmatic</a:t>
            </a:r>
            <a:r>
              <a:rPr sz="2400" spc="-40" dirty="0"/>
              <a:t> </a:t>
            </a:r>
            <a:r>
              <a:rPr sz="2400" dirty="0"/>
              <a:t>analysis</a:t>
            </a:r>
            <a:r>
              <a:rPr sz="2400" spc="-40" dirty="0"/>
              <a:t> </a:t>
            </a:r>
            <a:r>
              <a:rPr sz="2400" dirty="0"/>
              <a:t>reveals</a:t>
            </a:r>
            <a:r>
              <a:rPr sz="2400" spc="-55" dirty="0"/>
              <a:t> </a:t>
            </a:r>
            <a:r>
              <a:rPr sz="2400" dirty="0"/>
              <a:t>that</a:t>
            </a:r>
            <a:r>
              <a:rPr sz="2400" spc="-35" dirty="0"/>
              <a:t> </a:t>
            </a:r>
            <a:r>
              <a:rPr sz="2400" b="1" dirty="0">
                <a:latin typeface="Times New Roman"/>
                <a:cs typeface="Times New Roman"/>
              </a:rPr>
              <a:t>Speaker</a:t>
            </a:r>
            <a:r>
              <a:rPr sz="2400" b="1" spc="-17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A</a:t>
            </a:r>
            <a:r>
              <a:rPr sz="2400" spc="-10" dirty="0"/>
              <a:t>’s</a:t>
            </a:r>
            <a:r>
              <a:rPr sz="2400" spc="-40" dirty="0"/>
              <a:t> </a:t>
            </a:r>
            <a:r>
              <a:rPr sz="2400" dirty="0"/>
              <a:t>statement</a:t>
            </a:r>
            <a:r>
              <a:rPr sz="2400" spc="-30" dirty="0"/>
              <a:t> </a:t>
            </a:r>
            <a:r>
              <a:rPr sz="2400" dirty="0"/>
              <a:t>is</a:t>
            </a:r>
            <a:r>
              <a:rPr sz="2400" spc="-35" dirty="0"/>
              <a:t> </a:t>
            </a:r>
            <a:r>
              <a:rPr sz="2400" dirty="0"/>
              <a:t>more</a:t>
            </a:r>
            <a:r>
              <a:rPr sz="2400" spc="-30" dirty="0"/>
              <a:t> </a:t>
            </a:r>
            <a:r>
              <a:rPr sz="2400" dirty="0"/>
              <a:t>than</a:t>
            </a:r>
            <a:r>
              <a:rPr sz="2400" spc="-40" dirty="0"/>
              <a:t> </a:t>
            </a:r>
            <a:r>
              <a:rPr sz="2400" dirty="0"/>
              <a:t>an</a:t>
            </a:r>
            <a:r>
              <a:rPr sz="2400" spc="-25" dirty="0"/>
              <a:t> </a:t>
            </a:r>
            <a:r>
              <a:rPr sz="2400" dirty="0"/>
              <a:t>observation</a:t>
            </a:r>
            <a:r>
              <a:rPr sz="2400" spc="-60" dirty="0"/>
              <a:t> </a:t>
            </a:r>
            <a:r>
              <a:rPr sz="2400" dirty="0"/>
              <a:t>about</a:t>
            </a:r>
            <a:r>
              <a:rPr sz="2400" spc="-50" dirty="0"/>
              <a:t> </a:t>
            </a:r>
            <a:r>
              <a:rPr sz="2400" spc="-25" dirty="0"/>
              <a:t>the </a:t>
            </a:r>
            <a:r>
              <a:rPr sz="2400" spc="-10" dirty="0"/>
              <a:t>temperature—</a:t>
            </a:r>
            <a:r>
              <a:rPr sz="2400" spc="-20" dirty="0"/>
              <a:t>it’s</a:t>
            </a:r>
            <a:r>
              <a:rPr sz="2400" spc="-45" dirty="0"/>
              <a:t> </a:t>
            </a:r>
            <a:r>
              <a:rPr sz="2400" dirty="0"/>
              <a:t>an indirect</a:t>
            </a:r>
            <a:r>
              <a:rPr sz="2400" spc="-40" dirty="0"/>
              <a:t> </a:t>
            </a:r>
            <a:r>
              <a:rPr sz="2400" dirty="0"/>
              <a:t>request</a:t>
            </a:r>
            <a:r>
              <a:rPr sz="2400" spc="-35" dirty="0"/>
              <a:t> </a:t>
            </a:r>
            <a:r>
              <a:rPr sz="2400" dirty="0"/>
              <a:t>for</a:t>
            </a:r>
            <a:r>
              <a:rPr sz="2400" spc="-10" dirty="0"/>
              <a:t> </a:t>
            </a:r>
            <a:r>
              <a:rPr sz="2400" dirty="0"/>
              <a:t>action.</a:t>
            </a:r>
            <a:r>
              <a:rPr sz="2400" spc="-15" dirty="0"/>
              <a:t> </a:t>
            </a:r>
            <a:r>
              <a:rPr sz="2400" b="1" dirty="0">
                <a:latin typeface="Times New Roman"/>
                <a:cs typeface="Times New Roman"/>
              </a:rPr>
              <a:t>Speaker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dirty="0"/>
              <a:t>interprets</a:t>
            </a:r>
            <a:r>
              <a:rPr sz="2400" spc="-45" dirty="0"/>
              <a:t> </a:t>
            </a:r>
            <a:r>
              <a:rPr sz="2400" dirty="0"/>
              <a:t>this</a:t>
            </a:r>
            <a:r>
              <a:rPr sz="2400" spc="-20" dirty="0"/>
              <a:t> </a:t>
            </a:r>
            <a:r>
              <a:rPr sz="2400" dirty="0"/>
              <a:t>indirect</a:t>
            </a:r>
            <a:r>
              <a:rPr sz="2400" spc="-45" dirty="0"/>
              <a:t> </a:t>
            </a:r>
            <a:r>
              <a:rPr sz="2400" dirty="0"/>
              <a:t>request</a:t>
            </a:r>
            <a:r>
              <a:rPr sz="2400" spc="-30" dirty="0"/>
              <a:t> </a:t>
            </a:r>
            <a:r>
              <a:rPr sz="2400" dirty="0"/>
              <a:t>and</a:t>
            </a:r>
            <a:r>
              <a:rPr sz="2400" spc="-15" dirty="0"/>
              <a:t> </a:t>
            </a:r>
            <a:r>
              <a:rPr sz="2400" spc="-10" dirty="0"/>
              <a:t>responds appropriately.</a:t>
            </a:r>
            <a:r>
              <a:rPr sz="2400" spc="-45" dirty="0"/>
              <a:t> </a:t>
            </a:r>
            <a:r>
              <a:rPr sz="2400" dirty="0"/>
              <a:t>Pragmatic</a:t>
            </a:r>
            <a:r>
              <a:rPr sz="2400" spc="-25" dirty="0"/>
              <a:t> </a:t>
            </a:r>
            <a:r>
              <a:rPr sz="2400" dirty="0"/>
              <a:t>analysis</a:t>
            </a:r>
            <a:r>
              <a:rPr sz="2400" spc="-45" dirty="0"/>
              <a:t> </a:t>
            </a:r>
            <a:r>
              <a:rPr sz="2400" dirty="0"/>
              <a:t>helps</a:t>
            </a:r>
            <a:r>
              <a:rPr sz="2400" spc="-40" dirty="0"/>
              <a:t> </a:t>
            </a:r>
            <a:r>
              <a:rPr sz="2400" dirty="0"/>
              <a:t>uncover</a:t>
            </a:r>
            <a:r>
              <a:rPr sz="2400" spc="-40" dirty="0"/>
              <a:t> </a:t>
            </a:r>
            <a:r>
              <a:rPr sz="2400" dirty="0"/>
              <a:t>these</a:t>
            </a:r>
            <a:r>
              <a:rPr sz="2400" spc="-40" dirty="0"/>
              <a:t> </a:t>
            </a:r>
            <a:r>
              <a:rPr sz="2400" dirty="0"/>
              <a:t>unspoken</a:t>
            </a:r>
            <a:r>
              <a:rPr sz="2400" spc="-50" dirty="0"/>
              <a:t> </a:t>
            </a:r>
            <a:r>
              <a:rPr sz="2400" dirty="0"/>
              <a:t>social</a:t>
            </a:r>
            <a:r>
              <a:rPr sz="2400" spc="-40" dirty="0"/>
              <a:t> </a:t>
            </a:r>
            <a:r>
              <a:rPr sz="2400" dirty="0"/>
              <a:t>cues</a:t>
            </a:r>
            <a:r>
              <a:rPr sz="2400" spc="-20" dirty="0"/>
              <a:t> </a:t>
            </a:r>
            <a:r>
              <a:rPr sz="2400" dirty="0"/>
              <a:t>and</a:t>
            </a:r>
            <a:r>
              <a:rPr sz="2400" spc="-25" dirty="0"/>
              <a:t> </a:t>
            </a:r>
            <a:r>
              <a:rPr sz="2400" dirty="0"/>
              <a:t>implied</a:t>
            </a:r>
            <a:r>
              <a:rPr sz="2400" spc="-25" dirty="0"/>
              <a:t> </a:t>
            </a:r>
            <a:r>
              <a:rPr sz="2400" dirty="0"/>
              <a:t>meanings</a:t>
            </a:r>
            <a:r>
              <a:rPr sz="2400" spc="-30" dirty="0"/>
              <a:t> </a:t>
            </a:r>
            <a:r>
              <a:rPr sz="2400" spc="-20" dirty="0"/>
              <a:t>that </a:t>
            </a:r>
            <a:r>
              <a:rPr sz="2400" dirty="0"/>
              <a:t>are</a:t>
            </a:r>
            <a:r>
              <a:rPr sz="2400" spc="-20" dirty="0"/>
              <a:t> </a:t>
            </a:r>
            <a:r>
              <a:rPr sz="2400" dirty="0"/>
              <a:t>vital</a:t>
            </a:r>
            <a:r>
              <a:rPr sz="2400" spc="-30" dirty="0"/>
              <a:t> </a:t>
            </a:r>
            <a:r>
              <a:rPr sz="2400" dirty="0"/>
              <a:t>to</a:t>
            </a:r>
            <a:r>
              <a:rPr sz="2400" spc="-15" dirty="0"/>
              <a:t> </a:t>
            </a:r>
            <a:r>
              <a:rPr sz="2400" dirty="0"/>
              <a:t>everyday</a:t>
            </a:r>
            <a:r>
              <a:rPr sz="2400" spc="-35" dirty="0"/>
              <a:t> </a:t>
            </a:r>
            <a:r>
              <a:rPr sz="2400" spc="-10" dirty="0"/>
              <a:t>communication.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359EB8B-B22B-2B5A-3A4C-CB0805A8FE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0390893"/>
              </p:ext>
            </p:extLst>
          </p:nvPr>
        </p:nvGraphicFramePr>
        <p:xfrm>
          <a:off x="1263578" y="1722976"/>
          <a:ext cx="9664847" cy="3233865"/>
        </p:xfrm>
        <a:graphic>
          <a:graphicData uri="http://schemas.openxmlformats.org/drawingml/2006/table">
            <a:tbl>
              <a:tblPr/>
              <a:tblGrid>
                <a:gridCol w="2711220">
                  <a:extLst>
                    <a:ext uri="{9D8B030D-6E8A-4147-A177-3AD203B41FA5}">
                      <a16:colId xmlns:a16="http://schemas.microsoft.com/office/drawing/2014/main" val="135028317"/>
                    </a:ext>
                  </a:extLst>
                </a:gridCol>
                <a:gridCol w="3568685">
                  <a:extLst>
                    <a:ext uri="{9D8B030D-6E8A-4147-A177-3AD203B41FA5}">
                      <a16:colId xmlns:a16="http://schemas.microsoft.com/office/drawing/2014/main" val="2506029150"/>
                    </a:ext>
                  </a:extLst>
                </a:gridCol>
                <a:gridCol w="3384942">
                  <a:extLst>
                    <a:ext uri="{9D8B030D-6E8A-4147-A177-3AD203B41FA5}">
                      <a16:colId xmlns:a16="http://schemas.microsoft.com/office/drawing/2014/main" val="289756031"/>
                    </a:ext>
                  </a:extLst>
                </a:gridCol>
              </a:tblGrid>
              <a:tr h="6467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9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Aspect</a:t>
                      </a:r>
                    </a:p>
                  </a:txBody>
                  <a:tcPr marL="146994" marR="146994" marT="73497" marB="734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9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Semantics</a:t>
                      </a:r>
                    </a:p>
                  </a:txBody>
                  <a:tcPr marL="146994" marR="146994" marT="73497" marB="734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9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Pragmatics</a:t>
                      </a:r>
                    </a:p>
                  </a:txBody>
                  <a:tcPr marL="146994" marR="146994" marT="73497" marB="734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7432796"/>
                  </a:ext>
                </a:extLst>
              </a:tr>
              <a:tr h="6467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Meaning type</a:t>
                      </a:r>
                    </a:p>
                  </a:txBody>
                  <a:tcPr marL="146994" marR="146994" marT="73497" marB="734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Literal</a:t>
                      </a:r>
                    </a:p>
                  </a:txBody>
                  <a:tcPr marL="146994" marR="146994" marT="73497" marB="734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Intended</a:t>
                      </a:r>
                    </a:p>
                  </a:txBody>
                  <a:tcPr marL="146994" marR="146994" marT="73497" marB="734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696500"/>
                  </a:ext>
                </a:extLst>
              </a:tr>
              <a:tr h="6467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Context</a:t>
                      </a:r>
                    </a:p>
                  </a:txBody>
                  <a:tcPr marL="146994" marR="146994" marT="73497" marB="734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</a:t>
                      </a:r>
                    </a:p>
                  </a:txBody>
                  <a:tcPr marL="146994" marR="146994" marT="73497" marB="734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Essential</a:t>
                      </a:r>
                    </a:p>
                  </a:txBody>
                  <a:tcPr marL="146994" marR="146994" marT="73497" marB="734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0226193"/>
                  </a:ext>
                </a:extLst>
              </a:tr>
              <a:tr h="6467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</a:t>
                      </a:r>
                    </a:p>
                  </a:txBody>
                  <a:tcPr marL="146994" marR="146994" marT="73497" marB="734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Sentence meaning</a:t>
                      </a:r>
                    </a:p>
                  </a:txBody>
                  <a:tcPr marL="146994" marR="146994" marT="73497" marB="734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Speaker meaning</a:t>
                      </a:r>
                    </a:p>
                  </a:txBody>
                  <a:tcPr marL="146994" marR="146994" marT="73497" marB="734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1865408"/>
                  </a:ext>
                </a:extLst>
              </a:tr>
              <a:tr h="6467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</a:p>
                  </a:txBody>
                  <a:tcPr marL="146994" marR="146994" marT="73497" marB="734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“Can you swim?”</a:t>
                      </a:r>
                    </a:p>
                  </a:txBody>
                  <a:tcPr marL="146994" marR="146994" marT="73497" marB="734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“Can you help?”</a:t>
                      </a:r>
                    </a:p>
                  </a:txBody>
                  <a:tcPr marL="146994" marR="146994" marT="73497" marB="734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00587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28373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8600" y="152400"/>
            <a:ext cx="11734800" cy="6319679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 algn="just">
              <a:spcBef>
                <a:spcPts val="1180"/>
              </a:spcBef>
            </a:pPr>
            <a:r>
              <a:rPr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Discourse</a:t>
            </a:r>
            <a:r>
              <a:rPr sz="2400" b="1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just">
              <a:spcBef>
                <a:spcPts val="285"/>
              </a:spcBef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24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  <a:r>
              <a:rPr sz="24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coherence(</a:t>
            </a:r>
            <a:r>
              <a:rPr sz="24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coherence</a:t>
            </a:r>
            <a:r>
              <a:rPr sz="2400" b="1"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refers</a:t>
            </a:r>
            <a:r>
              <a:rPr sz="2400"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</a:t>
            </a:r>
            <a:r>
              <a:rPr sz="2400" spc="-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connections</a:t>
            </a:r>
            <a:r>
              <a:rPr sz="2400" spc="-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</a:t>
            </a:r>
            <a:r>
              <a:rPr sz="2400" spc="-1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sense</a:t>
            </a:r>
            <a:r>
              <a:rPr sz="24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-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unity</a:t>
            </a:r>
            <a:r>
              <a:rPr sz="2400" spc="-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within</a:t>
            </a:r>
            <a:r>
              <a:rPr sz="2400" spc="-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r>
              <a:rPr sz="24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spoken</a:t>
            </a:r>
            <a:r>
              <a:rPr sz="2400"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conversation.)</a:t>
            </a:r>
            <a:r>
              <a:rPr sz="24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across larger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units.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just">
              <a:spcBef>
                <a:spcPts val="795"/>
              </a:spcBef>
            </a:pP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Tasks:</a:t>
            </a:r>
            <a:r>
              <a:rPr sz="24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sz="24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sentences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paragraphs,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discourse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connectives.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872490" indent="-9525" algn="just">
              <a:spcBef>
                <a:spcPts val="1350"/>
              </a:spcBef>
              <a:buSzPct val="95000"/>
              <a:buFont typeface="Times New Roman"/>
              <a:buChar char="•"/>
              <a:tabLst>
                <a:tab pos="100330" algn="l"/>
              </a:tabLst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Discourse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goes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beyond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sentence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examines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sentences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contribute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conversation.</a:t>
            </a:r>
            <a:r>
              <a:rPr sz="24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looks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pronouns,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entities,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concepts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across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sentences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 is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coherent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throughout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text.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0330" indent="-97155" algn="just">
              <a:spcBef>
                <a:spcPts val="1200"/>
              </a:spcBef>
              <a:buSzPct val="95000"/>
              <a:buFont typeface="Times New Roman"/>
              <a:buChar char="•"/>
              <a:tabLst>
                <a:tab pos="100330" algn="l"/>
              </a:tabLst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sentences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"John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went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store.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bought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milk,"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discourse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just">
              <a:spcBef>
                <a:spcPts val="1200"/>
              </a:spcBef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"He"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"John"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actions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sense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across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sentences.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1064895" indent="-9525" algn="just">
              <a:buSzPct val="95000"/>
              <a:buFont typeface="Times New Roman"/>
              <a:buChar char="•"/>
              <a:tabLst>
                <a:tab pos="100330" algn="l"/>
              </a:tabLst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24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coherence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consistency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across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sentences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turns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conversation,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ensuring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larger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discourse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understood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whole.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8600" y="1114584"/>
            <a:ext cx="11734800" cy="46288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spcBef>
                <a:spcPts val="95"/>
              </a:spcBef>
            </a:pPr>
            <a:r>
              <a:rPr sz="2400" b="1" dirty="0">
                <a:latin typeface="Times New Roman"/>
                <a:cs typeface="Times New Roman"/>
              </a:rPr>
              <a:t>Discourse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analysis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focuses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how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language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texts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conversations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within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particular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contexts.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examines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structure,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flow,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function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discourse,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paying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attention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how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meaning</a:t>
            </a:r>
            <a:r>
              <a:rPr sz="2400" spc="-25" dirty="0">
                <a:latin typeface="Times New Roman"/>
                <a:cs typeface="Times New Roman"/>
              </a:rPr>
              <a:t> is </a:t>
            </a:r>
            <a:r>
              <a:rPr sz="2400" dirty="0">
                <a:latin typeface="Times New Roman"/>
                <a:cs typeface="Times New Roman"/>
              </a:rPr>
              <a:t>constructed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across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sentences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turns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conversation,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just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within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them.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spcBef>
                <a:spcPts val="1200"/>
              </a:spcBef>
            </a:pPr>
            <a:r>
              <a:rPr sz="2400" b="1" dirty="0">
                <a:latin typeface="Times New Roman"/>
                <a:cs typeface="Times New Roman"/>
              </a:rPr>
              <a:t>Example of</a:t>
            </a:r>
            <a:r>
              <a:rPr sz="2400" b="1" spc="1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Discourse</a:t>
            </a:r>
            <a:r>
              <a:rPr sz="2400" b="1" spc="-12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Analysis: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spcBef>
                <a:spcPts val="1200"/>
              </a:spcBef>
            </a:pPr>
            <a:r>
              <a:rPr sz="2400" dirty="0">
                <a:latin typeface="Times New Roman"/>
                <a:cs typeface="Times New Roman"/>
              </a:rPr>
              <a:t>Consider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excerpt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conversation:</a:t>
            </a:r>
            <a:endParaRPr sz="2400" dirty="0">
              <a:latin typeface="Times New Roman"/>
              <a:cs typeface="Times New Roman"/>
            </a:endParaRPr>
          </a:p>
          <a:p>
            <a:pPr marL="100330" indent="-97155">
              <a:spcBef>
                <a:spcPts val="1200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Person</a:t>
            </a:r>
            <a:r>
              <a:rPr sz="2400" b="1" spc="-1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"So,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you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finish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project?"</a:t>
            </a:r>
            <a:endParaRPr sz="2400" dirty="0">
              <a:latin typeface="Times New Roman"/>
              <a:cs typeface="Times New Roman"/>
            </a:endParaRPr>
          </a:p>
          <a:p>
            <a:pPr marL="100330" indent="-97155">
              <a:spcBef>
                <a:spcPts val="1200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sz="2400" b="1" dirty="0">
                <a:latin typeface="Times New Roman"/>
                <a:cs typeface="Times New Roman"/>
              </a:rPr>
              <a:t>Person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"Well,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was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planning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got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really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busy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some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other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tasks."</a:t>
            </a:r>
            <a:endParaRPr sz="2400" dirty="0">
              <a:latin typeface="Times New Roman"/>
              <a:cs typeface="Times New Roman"/>
            </a:endParaRPr>
          </a:p>
          <a:p>
            <a:pPr marL="100330" indent="-97155">
              <a:spcBef>
                <a:spcPts val="1200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Person</a:t>
            </a:r>
            <a:r>
              <a:rPr sz="2400" b="1" spc="-1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"I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see.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It’s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been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hectic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week,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hasn’t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it?"</a:t>
            </a:r>
            <a:endParaRPr sz="2400" dirty="0">
              <a:latin typeface="Times New Roman"/>
              <a:cs typeface="Times New Roman"/>
            </a:endParaRPr>
          </a:p>
          <a:p>
            <a:pPr marL="100330" indent="-97155">
              <a:spcBef>
                <a:spcPts val="1205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sz="2400" b="1" dirty="0">
                <a:latin typeface="Times New Roman"/>
                <a:cs typeface="Times New Roman"/>
              </a:rPr>
              <a:t>Person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"Yeah,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totally.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I’ll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finish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tomorrow."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300" y="-103057"/>
            <a:ext cx="11963400" cy="7064113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spcBef>
                <a:spcPts val="1305"/>
              </a:spcBef>
            </a:pPr>
            <a:r>
              <a:rPr sz="2400" b="1" dirty="0">
                <a:latin typeface="Times New Roman"/>
                <a:cs typeface="Times New Roman"/>
              </a:rPr>
              <a:t>Step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1: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Topic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Management</a:t>
            </a:r>
            <a:endParaRPr sz="2400" dirty="0">
              <a:latin typeface="Times New Roman"/>
              <a:cs typeface="Times New Roman"/>
            </a:endParaRPr>
          </a:p>
          <a:p>
            <a:pPr marL="100330" indent="-97155">
              <a:spcBef>
                <a:spcPts val="1200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topic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conversation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 introduced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 </a:t>
            </a:r>
            <a:r>
              <a:rPr sz="2400" b="1" spc="-10" dirty="0">
                <a:latin typeface="Times New Roman"/>
                <a:cs typeface="Times New Roman"/>
              </a:rPr>
              <a:t>Person</a:t>
            </a:r>
            <a:r>
              <a:rPr sz="2400" b="1" spc="-1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b="1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 question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about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project’s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status.</a:t>
            </a:r>
            <a:endParaRPr sz="2400" dirty="0">
              <a:latin typeface="Times New Roman"/>
              <a:cs typeface="Times New Roman"/>
            </a:endParaRPr>
          </a:p>
          <a:p>
            <a:pPr marL="12700" marR="5080" indent="-9525"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sz="2400" b="1" dirty="0">
                <a:latin typeface="Times New Roman"/>
                <a:cs typeface="Times New Roman"/>
              </a:rPr>
              <a:t>	Person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responds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explaining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project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isn't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finished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introduces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subtopic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about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busy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other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tasks.</a:t>
            </a:r>
            <a:endParaRPr sz="2400" dirty="0">
              <a:latin typeface="Times New Roman"/>
              <a:cs typeface="Times New Roman"/>
            </a:endParaRPr>
          </a:p>
          <a:p>
            <a:pPr marL="100330" indent="-97155">
              <a:spcBef>
                <a:spcPts val="1200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Person</a:t>
            </a:r>
            <a:r>
              <a:rPr sz="2400" b="1" spc="-1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 </a:t>
            </a:r>
            <a:r>
              <a:rPr sz="2400" dirty="0">
                <a:latin typeface="Times New Roman"/>
                <a:cs typeface="Times New Roman"/>
              </a:rPr>
              <a:t>shifts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slightly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 more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general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topic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about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week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hectic,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before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Person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refocuses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spcBef>
                <a:spcPts val="1205"/>
              </a:spcBef>
            </a:pPr>
            <a:r>
              <a:rPr sz="2400" dirty="0">
                <a:latin typeface="Times New Roman"/>
                <a:cs typeface="Times New Roman"/>
              </a:rPr>
              <a:t>back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 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original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topic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project)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future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intention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complete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it.</a:t>
            </a:r>
            <a:endParaRPr sz="2400" dirty="0">
              <a:latin typeface="Times New Roman"/>
              <a:cs typeface="Times New Roman"/>
            </a:endParaRPr>
          </a:p>
          <a:p>
            <a:pPr>
              <a:spcBef>
                <a:spcPts val="495"/>
              </a:spcBef>
            </a:pPr>
            <a:endParaRPr sz="2400" dirty="0">
              <a:latin typeface="Times New Roman"/>
              <a:cs typeface="Times New Roman"/>
            </a:endParaRPr>
          </a:p>
          <a:p>
            <a:pPr marL="12700"/>
            <a:r>
              <a:rPr sz="2400" b="1" dirty="0">
                <a:latin typeface="Times New Roman"/>
                <a:cs typeface="Times New Roman"/>
              </a:rPr>
              <a:t>Step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2: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Coherence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Cohesion</a:t>
            </a:r>
            <a:endParaRPr sz="2400" dirty="0">
              <a:latin typeface="Times New Roman"/>
              <a:cs typeface="Times New Roman"/>
            </a:endParaRPr>
          </a:p>
          <a:p>
            <a:pPr marL="100330" indent="-97155">
              <a:spcBef>
                <a:spcPts val="1200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sz="2400" b="1" dirty="0">
                <a:latin typeface="Times New Roman"/>
                <a:cs typeface="Times New Roman"/>
              </a:rPr>
              <a:t>Coherence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maintained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throughout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conversation.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Although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Person</a:t>
            </a:r>
            <a:r>
              <a:rPr sz="2400" b="1" spc="-1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b="1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introduces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general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spcBef>
                <a:spcPts val="1200"/>
              </a:spcBef>
            </a:pPr>
            <a:r>
              <a:rPr sz="2400" dirty="0">
                <a:latin typeface="Times New Roman"/>
                <a:cs typeface="Times New Roman"/>
              </a:rPr>
              <a:t>statement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about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hectic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week,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discourse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remains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coherent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because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it’s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related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explanation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spcBef>
                <a:spcPts val="1205"/>
              </a:spcBef>
            </a:pPr>
            <a:r>
              <a:rPr sz="2400" dirty="0">
                <a:latin typeface="Times New Roman"/>
                <a:cs typeface="Times New Roman"/>
              </a:rPr>
              <a:t>given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Person</a:t>
            </a:r>
            <a:r>
              <a:rPr sz="2400" b="1" spc="-25" dirty="0">
                <a:latin typeface="Times New Roman"/>
                <a:cs typeface="Times New Roman"/>
              </a:rPr>
              <a:t> B</a:t>
            </a:r>
            <a:r>
              <a:rPr sz="2400" spc="-25" dirty="0"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  <a:p>
            <a:pPr marL="12700" marR="1115695" indent="-9525"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sz="2400" b="1" dirty="0">
                <a:latin typeface="Times New Roman"/>
                <a:cs typeface="Times New Roman"/>
              </a:rPr>
              <a:t>	Cohesion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achieved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through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lexical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like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"busy"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"hectic,"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which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keep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conversation connected.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8470" y="1905000"/>
            <a:ext cx="11275060" cy="2382704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 algn="just">
              <a:spcBef>
                <a:spcPts val="1300"/>
              </a:spcBef>
            </a:pPr>
            <a:r>
              <a:rPr sz="2400" b="1" dirty="0">
                <a:latin typeface="Times New Roman"/>
                <a:cs typeface="Times New Roman"/>
              </a:rPr>
              <a:t>Discourse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Interpretation:</a:t>
            </a:r>
            <a:endParaRPr sz="2400" dirty="0">
              <a:latin typeface="Times New Roman"/>
              <a:cs typeface="Times New Roman"/>
            </a:endParaRPr>
          </a:p>
          <a:p>
            <a:pPr marL="12700" marR="5080" algn="just"/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conversation,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discourse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analysis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uncovers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how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participants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manage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topics,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maintain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coherence,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politeness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strategies.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also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shows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how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implicit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meanings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inferences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made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based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context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dialogue,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contributing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smooth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interaction.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Discourse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analysis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looks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entire </a:t>
            </a:r>
            <a:r>
              <a:rPr sz="2400" dirty="0">
                <a:latin typeface="Times New Roman"/>
                <a:cs typeface="Times New Roman"/>
              </a:rPr>
              <a:t>conversation,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including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how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participants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contribute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meaning-making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process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over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several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turns.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4332" y="1752600"/>
            <a:ext cx="11443335" cy="29803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discourse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analysis,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coherence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cohesion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essential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concepts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work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together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create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meaningful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well-</a:t>
            </a:r>
            <a:r>
              <a:rPr sz="2400" dirty="0">
                <a:latin typeface="Times New Roman"/>
                <a:cs typeface="Times New Roman"/>
              </a:rPr>
              <a:t>structured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communication.</a:t>
            </a:r>
            <a:endParaRPr sz="2400" dirty="0">
              <a:latin typeface="Times New Roman"/>
              <a:cs typeface="Times New Roman"/>
            </a:endParaRPr>
          </a:p>
          <a:p>
            <a:pPr marL="355600" marR="246379" indent="-342900" algn="just">
              <a:buFont typeface="Arial MT"/>
              <a:buChar char="•"/>
              <a:tabLst>
                <a:tab pos="355600" algn="l"/>
              </a:tabLst>
            </a:pPr>
            <a:r>
              <a:rPr sz="2400" b="1" dirty="0">
                <a:latin typeface="Times New Roman"/>
                <a:cs typeface="Times New Roman"/>
              </a:rPr>
              <a:t>Coherence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refers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logical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flow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conceptual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clarity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ideas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within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text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conversation,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ensuring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each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contributes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overall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understanding.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deals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how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thoughts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organized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and </a:t>
            </a:r>
            <a:r>
              <a:rPr sz="2400" dirty="0">
                <a:latin typeface="Times New Roman"/>
                <a:cs typeface="Times New Roman"/>
              </a:rPr>
              <a:t>connected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deeper,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semantic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level.</a:t>
            </a:r>
            <a:endParaRPr sz="2400" dirty="0">
              <a:latin typeface="Times New Roman"/>
              <a:cs typeface="Times New Roman"/>
            </a:endParaRPr>
          </a:p>
          <a:p>
            <a:pPr marL="355600" marR="112395" indent="-342900" algn="just">
              <a:spcBef>
                <a:spcPts val="12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b="1" dirty="0">
                <a:latin typeface="Times New Roman"/>
                <a:cs typeface="Times New Roman"/>
              </a:rPr>
              <a:t>Cohesion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other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hand,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focuses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linguistic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devices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link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sentences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phrases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together,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such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pronouns,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conjunctions,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repeated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words.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These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elements provide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surface-level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connections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that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516415-79BB-6CC2-F2DB-1D9DE0DE3142}"/>
              </a:ext>
            </a:extLst>
          </p:cNvPr>
          <p:cNvSpPr txBox="1"/>
          <p:nvPr/>
        </p:nvSpPr>
        <p:spPr>
          <a:xfrm>
            <a:off x="304800" y="243512"/>
            <a:ext cx="1127760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Cohesion 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Cohesion is about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grammatical and lexical connections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sentences.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1: Pronoun Reference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Rita bought a book.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started reading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immediately.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Rita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book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cohesion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pronouns.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2: Conjunction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was raining,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stayed indoors.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connects cause and effect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Cohesion using conjunction.</a:t>
            </a:r>
          </a:p>
        </p:txBody>
      </p:sp>
    </p:spTree>
    <p:extLst>
      <p:ext uri="{BB962C8B-B14F-4D97-AF65-F5344CB8AC3E}">
        <p14:creationId xmlns:p14="http://schemas.microsoft.com/office/powerpoint/2010/main" val="30184158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D3195F-D819-E3F2-F035-14191375BE69}"/>
              </a:ext>
            </a:extLst>
          </p:cNvPr>
          <p:cNvSpPr txBox="1"/>
          <p:nvPr/>
        </p:nvSpPr>
        <p:spPr>
          <a:xfrm>
            <a:off x="228600" y="228600"/>
            <a:ext cx="116586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3: Repetition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difficult. Many students failed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Repetition of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creates cohesion.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4: Synonym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expensive. This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less fuel.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semantically linked → cohesion.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CEA515-69E1-DB33-7977-7B9F9BAD8FBE}"/>
              </a:ext>
            </a:extLst>
          </p:cNvPr>
          <p:cNvSpPr txBox="1"/>
          <p:nvPr/>
        </p:nvSpPr>
        <p:spPr>
          <a:xfrm>
            <a:off x="228600" y="4383584"/>
            <a:ext cx="1072515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5: Ellipsis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Ravi ordered coffee. Meena ordered tea.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“Ordered” is omitted in second sentence but understood → cohesion.</a:t>
            </a:r>
          </a:p>
        </p:txBody>
      </p:sp>
    </p:spTree>
    <p:extLst>
      <p:ext uri="{BB962C8B-B14F-4D97-AF65-F5344CB8AC3E}">
        <p14:creationId xmlns:p14="http://schemas.microsoft.com/office/powerpoint/2010/main" val="31928838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69AC4CA-A5AB-C694-852D-02791CA11D37}"/>
              </a:ext>
            </a:extLst>
          </p:cNvPr>
          <p:cNvSpPr txBox="1"/>
          <p:nvPr/>
        </p:nvSpPr>
        <p:spPr>
          <a:xfrm>
            <a:off x="342900" y="1828800"/>
            <a:ext cx="115062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Coherence 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Coherence is about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sense and overall meaning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text.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6: Logical Flow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studied hard for the exam. Therefore, I scored good marks.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Ideas are logically connected → coherence.</a:t>
            </a:r>
          </a:p>
        </p:txBody>
      </p:sp>
    </p:spTree>
    <p:extLst>
      <p:ext uri="{BB962C8B-B14F-4D97-AF65-F5344CB8AC3E}">
        <p14:creationId xmlns:p14="http://schemas.microsoft.com/office/powerpoint/2010/main" val="24720462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24200" y="2819400"/>
            <a:ext cx="7417434" cy="1763395"/>
          </a:xfrm>
          <a:prstGeom prst="rect">
            <a:avLst/>
          </a:prstGeom>
        </p:spPr>
        <p:txBody>
          <a:bodyPr vert="horz" wrap="square" lIns="0" tIns="87706" rIns="0" bIns="0" rtlCol="0">
            <a:spAutoFit/>
          </a:bodyPr>
          <a:lstStyle/>
          <a:p>
            <a:pPr marL="1109980">
              <a:lnSpc>
                <a:spcPct val="100000"/>
              </a:lnSpc>
              <a:spcBef>
                <a:spcPts val="100"/>
              </a:spcBef>
            </a:pPr>
            <a:r>
              <a:rPr dirty="0"/>
              <a:t>Thank </a:t>
            </a:r>
            <a:r>
              <a:rPr spc="-25" dirty="0"/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</TotalTime>
  <Words>3143</Words>
  <Application>Microsoft Office PowerPoint</Application>
  <PresentationFormat>Widescreen</PresentationFormat>
  <Paragraphs>258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Arial MT</vt:lpstr>
      <vt:lpstr>Times New Roman</vt:lpstr>
      <vt:lpstr>Trebuchet MS</vt:lpstr>
      <vt:lpstr>Office Theme</vt:lpstr>
      <vt:lpstr>How to process Natural Language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Phases of  NLP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Pragmatic Interpretation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Sarla Pareek</dc:creator>
  <cp:lastModifiedBy>Dr. Varda Pareek [MU - Jaipur]</cp:lastModifiedBy>
  <cp:revision>46</cp:revision>
  <dcterms:created xsi:type="dcterms:W3CDTF">2026-01-08T03:50:35Z</dcterms:created>
  <dcterms:modified xsi:type="dcterms:W3CDTF">2026-01-13T06:39:29Z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2025-08-14T00:00:00Z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2026-01-08T00:00:00Z</vt:filetime>
  </property>
  <property fmtid="{D5CDD505-2E9C-101B-9397-08002B2CF9AE}" pid="5" name="Producer">
    <vt:lpwstr>Microsoft® PowerPoint® for Microsoft 365</vt:lpwstr>
  </property>
</Properties>
</file>